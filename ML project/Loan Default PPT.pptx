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6" r:id="rId2"/>
    <p:sldId id="257" r:id="rId3"/>
    <p:sldId id="258" r:id="rId4"/>
    <p:sldId id="259" r:id="rId5"/>
    <p:sldId id="260" r:id="rId6"/>
    <p:sldId id="261" r:id="rId7"/>
    <p:sldId id="262" r:id="rId8"/>
    <p:sldId id="267" r:id="rId16"/>
    <p:sldId id="268" r:id="rId17"/>
    <p:sldId id="263" r:id="rId9"/>
    <p:sldId id="264" r:id="rId10"/>
    <p:sldId id="265"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2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8.xml"/><Relationship Id="rId17"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dk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96160" y="685800"/>
            <a:ext cx="5120280" cy="2180160"/>
          </a:xfrm>
          <a:prstGeom prst="rect">
            <a:avLst/>
          </a:prstGeom>
          <a:noFill/>
          <a:ln w="0">
            <a:noFill/>
          </a:ln>
        </p:spPr>
        <p:txBody>
          <a:bodyPr lIns="91440" tIns="91440" rIns="91440" bIns="91440" anchor="ctr">
            <a:noAutofit/>
          </a:bodyPr>
          <a:lstStyle/>
          <a:p>
            <a:pPr indent="0">
              <a:buNone/>
            </a:pPr>
            <a:r>
              <a:rPr lang="fr-FR" sz="8000" b="0" u="none" strike="noStrike">
                <a:solidFill>
                  <a:schemeClr val="dk1"/>
                </a:solidFill>
                <a:effectLst/>
                <a:uFillTx/>
                <a:latin typeface="Arial"/>
              </a:rPr>
              <a:t>Click to edit the title text format</a:t>
            </a:r>
          </a:p>
        </p:txBody>
      </p:sp>
      <p:cxnSp>
        <p:nvCxnSpPr>
          <p:cNvPr id="3" name="Google Shape;11;p2"/>
          <p:cNvCxnSpPr/>
          <p:nvPr/>
        </p:nvCxnSpPr>
        <p:spPr>
          <a:xfrm flipV="1">
            <a:off x="707040" y="531360"/>
            <a:ext cx="7724880" cy="7200"/>
          </a:xfrm>
          <a:prstGeom prst="straightConnector1">
            <a:avLst/>
          </a:prstGeom>
          <a:ln w="19050">
            <a:solidFill>
              <a:srgbClr val="CEEEFF"/>
            </a:solidFill>
            <a:round/>
          </a:ln>
        </p:spPr>
      </p:cxnSp>
      <p:sp>
        <p:nvSpPr>
          <p:cNvPr id="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2_1_1">
    <p:bg>
      <p:bgPr>
        <a:gradFill rotWithShape="0">
          <a:gsLst>
            <a:gs pos="0">
              <a:srgbClr val="FFFFFF"/>
            </a:gs>
            <a:gs pos="100000">
              <a:srgbClr val="CEEEFF"/>
            </a:gs>
          </a:gsLst>
          <a:lin ang="5400000"/>
        </a:gra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063440" y="534960"/>
            <a:ext cx="7364880" cy="57240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sp>
        <p:nvSpPr>
          <p:cNvPr id="6" name="Google Shape;114;p16"/>
          <p:cNvSpPr/>
          <p:nvPr/>
        </p:nvSpPr>
        <p:spPr>
          <a:xfrm>
            <a:off x="714960" y="660600"/>
            <a:ext cx="348120" cy="263520"/>
          </a:xfrm>
          <a:custGeom>
            <a:avLst/>
            <a:gdLst>
              <a:gd name="textAreaLeft" fmla="*/ 0 w 348120"/>
              <a:gd name="textAreaRight" fmla="*/ 348480 w 348120"/>
              <a:gd name="textAreaTop" fmla="*/ 0 h 263520"/>
              <a:gd name="textAreaBottom" fmla="*/ 263880 h 263520"/>
            </a:gdLst>
            <a:ahLst/>
            <a:cxnLst/>
            <a:rect l="textAreaLeft" t="textAreaTop" r="textAreaRight" b="textAreaBottom"/>
            <a:pathLst>
              <a:path w="2439" h="1848">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15;p16"/>
          <p:cNvSpPr/>
          <p:nvPr/>
        </p:nvSpPr>
        <p:spPr>
          <a:xfrm>
            <a:off x="7935480" y="534960"/>
            <a:ext cx="493560" cy="493560"/>
          </a:xfrm>
          <a:prstGeom prst="star8">
            <a:avLst>
              <a:gd name="adj" fmla="val 12365"/>
            </a:avLst>
          </a:prstGeom>
          <a:gradFill rotWithShape="0">
            <a:gsLst>
              <a:gs pos="0">
                <a:srgbClr val="FFFFFF"/>
              </a:gs>
              <a:gs pos="100000">
                <a:srgbClr val="80D1FC"/>
              </a:gs>
            </a:gsLst>
            <a:lin ang="5400000"/>
          </a:gradFill>
          <a:ln w="0">
            <a:noFill/>
          </a:ln>
        </p:spPr>
        <p:style>
          <a:lnRef idx="0">
            <a:scrgbClr r="0" g="0" b="0"/>
          </a:lnRef>
          <a:fillRef idx="0">
            <a:scrgbClr r="0" g="0" b="0"/>
          </a:fillRef>
          <a:effectRef idx="0">
            <a:scrgbClr r="0" g="0" b="0"/>
          </a:effectRef>
          <a:fontRef idx="minor"/>
        </p:style>
        <p:txBody>
          <a:bodyPr tIns="56160" bIns="56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4_1_1">
    <p:bg>
      <p:bgPr>
        <a:gradFill rotWithShape="0">
          <a:gsLst>
            <a:gs pos="0">
              <a:srgbClr val="FFFFFF"/>
            </a:gs>
            <a:gs pos="100000">
              <a:srgbClr val="CEEEFF"/>
            </a:gs>
          </a:gsLst>
          <a:lin ang="5400000"/>
        </a:gra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1462680" y="534960"/>
            <a:ext cx="6217920" cy="140832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
        <p:nvSpPr>
          <p:cNvPr id="10" name="PlaceHolder 2"/>
          <p:cNvSpPr>
            <a:spLocks noGrp="1"/>
          </p:cNvSpPr>
          <p:nvPr>
            <p:ph type="body"/>
          </p:nvPr>
        </p:nvSpPr>
        <p:spPr>
          <a:xfrm>
            <a:off x="714960" y="2138760"/>
            <a:ext cx="7713720" cy="1950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cxnSp>
        <p:nvCxnSpPr>
          <p:cNvPr id="11" name="Google Shape;135;p20"/>
          <p:cNvCxnSpPr/>
          <p:nvPr/>
        </p:nvCxnSpPr>
        <p:spPr>
          <a:xfrm flipV="1">
            <a:off x="707040" y="4605120"/>
            <a:ext cx="7724880" cy="6840"/>
          </a:xfrm>
          <a:prstGeom prst="straightConnector1">
            <a:avLst/>
          </a:prstGeom>
          <a:ln w="19050">
            <a:solidFill>
              <a:srgbClr val="191919"/>
            </a:solidFill>
            <a:round/>
          </a:ln>
        </p:spPr>
      </p:cxnSp>
      <p:grpSp>
        <p:nvGrpSpPr>
          <p:cNvPr id="12" name="Google Shape;136;p20"/>
          <p:cNvGrpSpPr/>
          <p:nvPr/>
        </p:nvGrpSpPr>
        <p:grpSpPr>
          <a:xfrm>
            <a:off x="714960" y="632160"/>
            <a:ext cx="103320" cy="615600"/>
            <a:chOff x="714960" y="632160"/>
            <a:chExt cx="103320" cy="615600"/>
          </a:xfrm>
        </p:grpSpPr>
        <p:sp>
          <p:nvSpPr>
            <p:cNvPr id="13" name="Google Shape;137;p20"/>
            <p:cNvSpPr/>
            <p:nvPr/>
          </p:nvSpPr>
          <p:spPr>
            <a:xfrm>
              <a:off x="714960" y="632160"/>
              <a:ext cx="103320" cy="103320"/>
            </a:xfrm>
            <a:prstGeom prst="ellipse">
              <a:avLst/>
            </a:prstGeom>
            <a:gradFill rotWithShape="0">
              <a:gsLst>
                <a:gs pos="0">
                  <a:srgbClr val="FFFFFF"/>
                </a:gs>
                <a:gs pos="100000">
                  <a:srgbClr val="80D1FC"/>
                </a:gs>
              </a:gsLst>
              <a:lin ang="54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138;p20"/>
            <p:cNvSpPr/>
            <p:nvPr/>
          </p:nvSpPr>
          <p:spPr>
            <a:xfrm>
              <a:off x="714960" y="888120"/>
              <a:ext cx="103320" cy="103320"/>
            </a:xfrm>
            <a:prstGeom prst="ellipse">
              <a:avLst/>
            </a:prstGeom>
            <a:gradFill rotWithShape="0">
              <a:gsLst>
                <a:gs pos="0">
                  <a:srgbClr val="FFFFFF"/>
                </a:gs>
                <a:gs pos="100000">
                  <a:srgbClr val="80D1FC"/>
                </a:gs>
              </a:gsLst>
              <a:lin ang="54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139;p20"/>
            <p:cNvSpPr/>
            <p:nvPr/>
          </p:nvSpPr>
          <p:spPr>
            <a:xfrm>
              <a:off x="714960" y="1144440"/>
              <a:ext cx="103320" cy="103320"/>
            </a:xfrm>
            <a:prstGeom prst="ellipse">
              <a:avLst/>
            </a:prstGeom>
            <a:gradFill rotWithShape="0">
              <a:gsLst>
                <a:gs pos="0">
                  <a:srgbClr val="FFFFFF"/>
                </a:gs>
                <a:gs pos="100000">
                  <a:srgbClr val="80D1FC"/>
                </a:gs>
              </a:gsLst>
              <a:lin ang="54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 name="Google Shape;140;p20"/>
          <p:cNvSpPr/>
          <p:nvPr/>
        </p:nvSpPr>
        <p:spPr>
          <a:xfrm>
            <a:off x="7710480" y="538200"/>
            <a:ext cx="720720" cy="720720"/>
          </a:xfrm>
          <a:prstGeom prst="star8">
            <a:avLst>
              <a:gd name="adj" fmla="val 12365"/>
            </a:avLst>
          </a:prstGeom>
          <a:gradFill rotWithShape="0">
            <a:gsLst>
              <a:gs pos="0">
                <a:srgbClr val="FFFFFF"/>
              </a:gs>
              <a:gs pos="100000">
                <a:srgbClr val="80D1FC"/>
              </a:gs>
            </a:gsLst>
            <a:lin ang="5400000"/>
          </a:gradFill>
          <a:ln w="0">
            <a:noFill/>
          </a:ln>
        </p:spPr>
        <p:style>
          <a:lnRef idx="0">
            <a:scrgbClr r="0" g="0" b="0"/>
          </a:lnRef>
          <a:fillRef idx="0">
            <a:scrgbClr r="0" g="0" b="0"/>
          </a:fillRef>
          <a:effectRef idx="0">
            <a:scrgbClr r="0" g="0" b="0"/>
          </a:effectRef>
          <a:fontRef idx="minor"/>
        </p:style>
        <p:txBody>
          <a:bodyPr tIns="82440" bIns="82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4_1_1_1">
    <p:bg>
      <p:bgPr>
        <a:gradFill rotWithShape="0">
          <a:gsLst>
            <a:gs pos="0">
              <a:srgbClr val="FFFFFF"/>
            </a:gs>
            <a:gs pos="100000">
              <a:srgbClr val="CEEEFF"/>
            </a:gs>
          </a:gsLst>
          <a:lin ang="5400000"/>
        </a:gradFill>
        <a:effectLst/>
      </p:bgPr>
    </p:bg>
    <p:spTree>
      <p:nvGrpSpPr>
        <p:cNvPr id="1" name=""/>
        <p:cNvGrpSpPr/>
        <p:nvPr/>
      </p:nvGrpSpPr>
      <p:grpSpPr>
        <a:xfrm>
          <a:off x="0" y="0"/>
          <a:ext cx="0" cy="0"/>
          <a:chOff x="0" y="0"/>
          <a:chExt cx="0" cy="0"/>
        </a:xfrm>
      </p:grpSpPr>
      <p:cxnSp>
        <p:nvCxnSpPr>
          <p:cNvPr id="17" name="Google Shape;142;p21"/>
          <p:cNvCxnSpPr/>
          <p:nvPr/>
        </p:nvCxnSpPr>
        <p:spPr>
          <a:xfrm flipV="1">
            <a:off x="707040" y="4605120"/>
            <a:ext cx="7724880" cy="6840"/>
          </a:xfrm>
          <a:prstGeom prst="straightConnector1">
            <a:avLst/>
          </a:prstGeom>
          <a:ln w="19050">
            <a:solidFill>
              <a:srgbClr val="191919"/>
            </a:solidFill>
            <a:round/>
          </a:ln>
        </p:spPr>
      </p:cxnSp>
      <p:sp>
        <p:nvSpPr>
          <p:cNvPr id="18" name="PlaceHolder 1"/>
          <p:cNvSpPr>
            <a:spLocks noGrp="1"/>
          </p:cNvSpPr>
          <p:nvPr>
            <p:ph type="title"/>
          </p:nvPr>
        </p:nvSpPr>
        <p:spPr>
          <a:xfrm>
            <a:off x="707400" y="534960"/>
            <a:ext cx="386460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9" name="PlaceHolder 2"/>
          <p:cNvSpPr>
            <a:spLocks noGrp="1"/>
          </p:cNvSpPr>
          <p:nvPr>
            <p:ph type="body"/>
          </p:nvPr>
        </p:nvSpPr>
        <p:spPr>
          <a:xfrm>
            <a:off x="707400" y="2066040"/>
            <a:ext cx="3864600" cy="23266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20" name="PlaceHolder 3"/>
          <p:cNvSpPr>
            <a:spLocks noGrp="1"/>
          </p:cNvSpPr>
          <p:nvPr>
            <p:ph type="body"/>
          </p:nvPr>
        </p:nvSpPr>
        <p:spPr>
          <a:xfrm>
            <a:off x="5074560" y="534960"/>
            <a:ext cx="3019680" cy="3858120"/>
          </a:xfrm>
          <a:prstGeom prst="rect">
            <a:avLst/>
          </a:prstGeom>
          <a:noFill/>
          <a:ln w="19080">
            <a:solidFill>
              <a:schemeClr val="dk1"/>
            </a:solidFill>
            <a:round/>
          </a:ln>
        </p:spPr>
        <p:txBody>
          <a:bodyPr lIns="90000" tIns="45000" rIns="90000" bIns="45000" anchor="t">
            <a:normAutofit fontScale="5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_1_1_1_1_2">
    <p:bg>
      <p:bgPr>
        <a:gradFill rotWithShape="0">
          <a:gsLst>
            <a:gs pos="0">
              <a:srgbClr val="FFFFFF"/>
            </a:gs>
            <a:gs pos="100000">
              <a:srgbClr val="CEEEFF"/>
            </a:gs>
          </a:gsLst>
          <a:lin ang="5400000"/>
        </a:gra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rot="21598800">
            <a:off x="714960" y="751680"/>
            <a:ext cx="4283280" cy="997560"/>
          </a:xfrm>
          <a:prstGeom prst="rect">
            <a:avLst/>
          </a:prstGeom>
          <a:noFill/>
          <a:ln w="0">
            <a:noFill/>
          </a:ln>
        </p:spPr>
        <p:txBody>
          <a:bodyPr lIns="91440" tIns="91440" rIns="91440" bIns="91440" anchor="ctr">
            <a:noAutofit/>
          </a:bodyPr>
          <a:lstStyle/>
          <a:p>
            <a:pPr indent="0">
              <a:buNone/>
            </a:pPr>
            <a:r>
              <a:rPr lang="fr-FR" sz="5200" b="0" u="none" strike="noStrike">
                <a:solidFill>
                  <a:schemeClr val="dk1"/>
                </a:solidFill>
                <a:effectLst/>
                <a:uFillTx/>
                <a:latin typeface="Arial"/>
              </a:rPr>
              <a:t>Click to edit the title text format</a:t>
            </a:r>
          </a:p>
        </p:txBody>
      </p:sp>
      <p:cxnSp>
        <p:nvCxnSpPr>
          <p:cNvPr id="22" name="Google Shape;202;p26"/>
          <p:cNvCxnSpPr/>
          <p:nvPr/>
        </p:nvCxnSpPr>
        <p:spPr>
          <a:xfrm flipV="1">
            <a:off x="707040" y="4605120"/>
            <a:ext cx="7724880" cy="6840"/>
          </a:xfrm>
          <a:prstGeom prst="straightConnector1">
            <a:avLst/>
          </a:prstGeom>
          <a:ln w="19050">
            <a:solidFill>
              <a:srgbClr val="191919"/>
            </a:solidFill>
            <a:round/>
          </a:ln>
        </p:spPr>
      </p:cxnSp>
      <p:sp>
        <p:nvSpPr>
          <p:cNvPr id="23" name="Google Shape;203;p26"/>
          <p:cNvSpPr/>
          <p:nvPr/>
        </p:nvSpPr>
        <p:spPr>
          <a:xfrm>
            <a:off x="714960" y="3456360"/>
            <a:ext cx="4959360" cy="5536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200" b="0" u="none" strike="noStrike">
                <a:solidFill>
                  <a:schemeClr val="dk1"/>
                </a:solidFill>
                <a:effectLst/>
                <a:uFillTx/>
                <a:latin typeface="Open Sans"/>
                <a:ea typeface="Open Sans"/>
              </a:rPr>
              <a:t>CREDITS: This presentation template was created by </a:t>
            </a:r>
            <a:r>
              <a:rPr lang="en" sz="1200" b="0" u="sng" strike="noStrike">
                <a:solidFill>
                  <a:schemeClr val="dk1"/>
                </a:solidFill>
                <a:effectLst/>
                <a:uFillTx/>
                <a:latin typeface="Open Sans"/>
                <a:ea typeface="Open Sans"/>
                <a:hlinkClick r:id="rId2"/>
              </a:rPr>
              <a:t>Slidesgo</a:t>
            </a:r>
            <a:r>
              <a:rPr lang="en" sz="1200" b="0" u="none" strike="noStrike">
                <a:solidFill>
                  <a:schemeClr val="dk1"/>
                </a:solidFill>
                <a:effectLst/>
                <a:uFillTx/>
                <a:latin typeface="Open Sans"/>
                <a:ea typeface="Open Sans"/>
              </a:rPr>
              <a:t>, including icons, infographics &amp; images by </a:t>
            </a:r>
            <a:r>
              <a:rPr lang="en" sz="1200" b="0" u="sng" strike="noStrike">
                <a:solidFill>
                  <a:schemeClr val="dk1"/>
                </a:solidFill>
                <a:effectLst/>
                <a:uFillTx/>
                <a:latin typeface="Open Sans"/>
                <a:ea typeface="Open Sans"/>
                <a:hlinkClick r:id="rId3"/>
              </a:rPr>
              <a:t>Freepik</a:t>
            </a:r>
            <a:endParaRPr lang="en-US" sz="1200" b="0" u="none" strike="noStrike">
              <a:solidFill>
                <a:srgbClr val="000000"/>
              </a:solidFill>
              <a:effectLst/>
              <a:uFillTx/>
              <a:latin typeface="OpenSymbo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E9D5B-BED7-9190-14B9-611283674352}"/>
              </a:ext>
            </a:extLst>
          </p:cNvPr>
          <p:cNvSpPr>
            <a:spLocks noGrp="1"/>
          </p:cNvSpPr>
          <p:nvPr>
            <p:ph type="title"/>
          </p:nvPr>
        </p:nvSpPr>
        <p:spPr>
          <a:xfrm>
            <a:off x="495882" y="1841412"/>
            <a:ext cx="7364880" cy="1387365"/>
          </a:xfrm>
        </p:spPr>
        <p:txBody>
          <a:bodyPr/>
          <a:lstStyle/>
          <a:p>
            <a:r>
              <a:rPr lang="en-IN" sz="2800" dirty="0"/>
              <a:t>Instructors</a:t>
            </a:r>
            <a:r>
              <a:rPr lang="en-IN" sz="3200" dirty="0"/>
              <a:t> :</a:t>
            </a:r>
            <a:br>
              <a:rPr lang="en-IN" sz="3200" dirty="0"/>
            </a:br>
            <a:r>
              <a:rPr lang="en-IN" sz="2400" dirty="0"/>
              <a:t> Dr. Jyothsna Datti mam</a:t>
            </a:r>
            <a:br>
              <a:rPr lang="en-IN" sz="3200" dirty="0"/>
            </a:br>
            <a:endParaRPr lang="en-IN" sz="3200" dirty="0"/>
          </a:p>
        </p:txBody>
      </p:sp>
      <p:sp>
        <p:nvSpPr>
          <p:cNvPr id="3" name="Text Placeholder 2">
            <a:extLst>
              <a:ext uri="{FF2B5EF4-FFF2-40B4-BE49-F238E27FC236}">
                <a16:creationId xmlns:a16="http://schemas.microsoft.com/office/drawing/2014/main" id="{DAB09076-F5F8-A378-5DEF-CF0B4903600A}"/>
              </a:ext>
            </a:extLst>
          </p:cNvPr>
          <p:cNvSpPr>
            <a:spLocks noGrp="1"/>
          </p:cNvSpPr>
          <p:nvPr>
            <p:ph type="body"/>
          </p:nvPr>
        </p:nvSpPr>
        <p:spPr>
          <a:xfrm>
            <a:off x="1082357" y="1021605"/>
            <a:ext cx="7431021" cy="340535"/>
          </a:xfrm>
        </p:spPr>
        <p:txBody>
          <a:bodyPr/>
          <a:lstStyle/>
          <a:p>
            <a:r>
              <a:rPr lang="en-IN" sz="3200" dirty="0"/>
              <a:t>Loan Default Prediction Using Random Forest and Gradient Boosting </a:t>
            </a:r>
          </a:p>
        </p:txBody>
      </p:sp>
      <p:sp>
        <p:nvSpPr>
          <p:cNvPr id="9" name="TextBox 8">
            <a:extLst>
              <a:ext uri="{FF2B5EF4-FFF2-40B4-BE49-F238E27FC236}">
                <a16:creationId xmlns:a16="http://schemas.microsoft.com/office/drawing/2014/main" id="{FBBB8DBC-A5DE-6FF9-0395-FD1E38688F32}"/>
              </a:ext>
            </a:extLst>
          </p:cNvPr>
          <p:cNvSpPr txBox="1"/>
          <p:nvPr/>
        </p:nvSpPr>
        <p:spPr>
          <a:xfrm>
            <a:off x="375220" y="3712778"/>
            <a:ext cx="4572000" cy="1200329"/>
          </a:xfrm>
          <a:prstGeom prst="rect">
            <a:avLst/>
          </a:prstGeom>
          <a:noFill/>
        </p:spPr>
        <p:txBody>
          <a:bodyPr wrap="square">
            <a:spAutoFit/>
          </a:bodyPr>
          <a:lstStyle/>
          <a:p>
            <a:r>
              <a:rPr lang="en-IN" sz="2400" dirty="0"/>
              <a:t>Team </a:t>
            </a:r>
            <a:r>
              <a:rPr lang="en-IN" sz="2400" dirty="0" err="1"/>
              <a:t>Memebers</a:t>
            </a:r>
            <a:r>
              <a:rPr lang="en-IN" sz="2400" dirty="0"/>
              <a:t>:</a:t>
            </a:r>
          </a:p>
          <a:p>
            <a:r>
              <a:rPr lang="en-IN" sz="2400" dirty="0" err="1"/>
              <a:t>M.Nishant</a:t>
            </a:r>
            <a:r>
              <a:rPr lang="en-IN" sz="2400" dirty="0"/>
              <a:t>- 2520030323</a:t>
            </a:r>
          </a:p>
          <a:p>
            <a:r>
              <a:rPr lang="en-IN" sz="2400" dirty="0" err="1"/>
              <a:t>M.Ram</a:t>
            </a:r>
            <a:r>
              <a:rPr lang="en-IN" sz="2400" dirty="0"/>
              <a:t> Ratan- 2520030291</a:t>
            </a:r>
          </a:p>
        </p:txBody>
      </p:sp>
    </p:spTree>
    <p:extLst>
      <p:ext uri="{BB962C8B-B14F-4D97-AF65-F5344CB8AC3E}">
        <p14:creationId xmlns:p14="http://schemas.microsoft.com/office/powerpoint/2010/main" val="4254141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1467000" y="533520"/>
            <a:ext cx="6219360" cy="5043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4000" b="1" u="none" strike="noStrike">
                <a:solidFill>
                  <a:srgbClr val="191919"/>
                </a:solidFill>
                <a:effectLst/>
                <a:uFillTx/>
                <a:latin typeface="Space Grotesk"/>
              </a:rPr>
              <a:t>Defaults Are Binary</a:t>
            </a:r>
            <a:endParaRPr lang="en-US" sz="4000" b="0" u="none" strike="noStrike">
              <a:solidFill>
                <a:srgbClr val="000000"/>
              </a:solidFill>
              <a:effectLst/>
              <a:uFillTx/>
              <a:latin typeface="OpenSymbol"/>
            </a:endParaRPr>
          </a:p>
        </p:txBody>
      </p:sp>
      <p:sp>
        <p:nvSpPr>
          <p:cNvPr id="33" name="Rectangle 32"/>
          <p:cNvSpPr/>
          <p:nvPr/>
        </p:nvSpPr>
        <p:spPr>
          <a:xfrm>
            <a:off x="714240" y="2143080"/>
            <a:ext cx="7714800" cy="12189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defTabSz="914400">
              <a:lnSpc>
                <a:spcPct val="150000"/>
              </a:lnSpc>
              <a:tabLst>
                <a:tab pos="0" algn="l"/>
              </a:tabLst>
            </a:pPr>
            <a:r>
              <a:rPr lang="en-US" sz="1400" b="0" u="none" strike="noStrike">
                <a:solidFill>
                  <a:srgbClr val="191919"/>
                </a:solidFill>
                <a:effectLst/>
                <a:uFillTx/>
                <a:latin typeface="Open Sans"/>
              </a:rPr>
              <a:t>Loan default is a binary classification with real economic impact: predict if a borrower will default within 12 months after origination. Positive class = default (charge-off or &gt;90 days past due); historical default rate is 12%. Costs drive thresholds: false negatives ≈ $8,000 per default; false positives ≈ $300 in forgone profit.</a:t>
            </a:r>
            <a:endParaRPr lang="en-US" sz="14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image_0:slide_img_HLjlih.jpg"/>
          <p:cNvSpPr/>
          <p:nvPr/>
        </p:nvSpPr>
        <p:spPr>
          <a:xfrm>
            <a:off x="5076720" y="533520"/>
            <a:ext cx="3018960" cy="385740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35" name="Rectangle 34"/>
          <p:cNvSpPr/>
          <p:nvPr/>
        </p:nvSpPr>
        <p:spPr>
          <a:xfrm>
            <a:off x="704880" y="533520"/>
            <a:ext cx="3866760" cy="3330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0000" lnSpcReduction="20000"/>
          </a:bodyPr>
          <a:lstStyle/>
          <a:p>
            <a:pPr defTabSz="914400">
              <a:lnSpc>
                <a:spcPct val="100000"/>
              </a:lnSpc>
              <a:tabLst>
                <a:tab pos="0" algn="l"/>
              </a:tabLst>
            </a:pPr>
            <a:r>
              <a:rPr lang="en-US" sz="2600" b="1" u="none" strike="noStrike">
                <a:solidFill>
                  <a:srgbClr val="191919"/>
                </a:solidFill>
                <a:effectLst/>
                <a:uFillTx/>
                <a:latin typeface="Space Grotesk"/>
              </a:rPr>
              <a:t>Dataset Layout</a:t>
            </a:r>
            <a:endParaRPr lang="en-US" sz="2600" b="0" u="none" strike="noStrike">
              <a:solidFill>
                <a:srgbClr val="000000"/>
              </a:solidFill>
              <a:effectLst/>
              <a:uFillTx/>
              <a:latin typeface="OpenSymbol"/>
            </a:endParaRPr>
          </a:p>
        </p:txBody>
      </p:sp>
      <p:sp>
        <p:nvSpPr>
          <p:cNvPr id="36" name="Rectangle 35"/>
          <p:cNvSpPr/>
          <p:nvPr/>
        </p:nvSpPr>
        <p:spPr>
          <a:xfrm>
            <a:off x="603981" y="1045154"/>
            <a:ext cx="3866760" cy="29332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defTabSz="914400">
              <a:lnSpc>
                <a:spcPct val="150000"/>
              </a:lnSpc>
              <a:tabLst>
                <a:tab pos="0" algn="l"/>
              </a:tabLst>
            </a:pPr>
            <a:r>
              <a:rPr lang="en-US" sz="1400" b="0" u="none" strike="noStrike" dirty="0">
                <a:solidFill>
                  <a:srgbClr val="191919"/>
                </a:solidFill>
                <a:effectLst/>
                <a:uFillTx/>
                <a:latin typeface="Open Sans"/>
              </a:rPr>
              <a:t>Loan data are tabular, combining borrower, loan, and performance fields. A typical row includes </a:t>
            </a:r>
            <a:r>
              <a:rPr lang="en-US" sz="1400" b="0" u="none" strike="noStrike" dirty="0" err="1">
                <a:solidFill>
                  <a:srgbClr val="191919"/>
                </a:solidFill>
                <a:effectLst/>
                <a:uFillTx/>
                <a:latin typeface="Open Sans"/>
              </a:rPr>
              <a:t>loan_id</a:t>
            </a:r>
            <a:r>
              <a:rPr lang="en-US" sz="1400" b="0" u="none" strike="noStrike" dirty="0">
                <a:solidFill>
                  <a:srgbClr val="191919"/>
                </a:solidFill>
                <a:effectLst/>
                <a:uFillTx/>
                <a:latin typeface="Open Sans"/>
              </a:rPr>
              <a:t>, </a:t>
            </a:r>
            <a:r>
              <a:rPr lang="en-US" sz="1400" b="0" u="none" strike="noStrike" dirty="0" err="1">
                <a:solidFill>
                  <a:srgbClr val="191919"/>
                </a:solidFill>
                <a:effectLst/>
                <a:uFillTx/>
                <a:latin typeface="Open Sans"/>
              </a:rPr>
              <a:t>origination_date</a:t>
            </a:r>
            <a:r>
              <a:rPr lang="en-US" sz="1400" b="0" u="none" strike="noStrike" dirty="0">
                <a:solidFill>
                  <a:srgbClr val="191919"/>
                </a:solidFill>
                <a:effectLst/>
                <a:uFillTx/>
                <a:latin typeface="Open Sans"/>
              </a:rPr>
              <a:t>, </a:t>
            </a:r>
            <a:r>
              <a:rPr lang="en-US" sz="1400" b="0" u="none" strike="noStrike" dirty="0" err="1">
                <a:solidFill>
                  <a:srgbClr val="191919"/>
                </a:solidFill>
                <a:effectLst/>
                <a:uFillTx/>
                <a:latin typeface="Open Sans"/>
              </a:rPr>
              <a:t>loan_amount</a:t>
            </a:r>
            <a:r>
              <a:rPr lang="en-US" sz="1400" b="0" u="none" strike="noStrike" dirty="0">
                <a:solidFill>
                  <a:srgbClr val="191919"/>
                </a:solidFill>
                <a:effectLst/>
                <a:uFillTx/>
                <a:latin typeface="Open Sans"/>
              </a:rPr>
              <a:t>, </a:t>
            </a:r>
            <a:r>
              <a:rPr lang="en-US" sz="1400" b="0" u="none" strike="noStrike" dirty="0" err="1">
                <a:solidFill>
                  <a:srgbClr val="191919"/>
                </a:solidFill>
                <a:effectLst/>
                <a:uFillTx/>
                <a:latin typeface="Open Sans"/>
              </a:rPr>
              <a:t>interest_rate</a:t>
            </a:r>
            <a:r>
              <a:rPr lang="en-US" sz="1400" b="0" u="none" strike="noStrike" dirty="0">
                <a:solidFill>
                  <a:srgbClr val="191919"/>
                </a:solidFill>
                <a:effectLst/>
                <a:uFillTx/>
                <a:latin typeface="Open Sans"/>
              </a:rPr>
              <a:t>, term, </a:t>
            </a:r>
            <a:r>
              <a:rPr lang="en-US" sz="1400" b="0" u="none" strike="noStrike" dirty="0" err="1">
                <a:solidFill>
                  <a:srgbClr val="191919"/>
                </a:solidFill>
                <a:effectLst/>
                <a:uFillTx/>
                <a:latin typeface="Open Sans"/>
              </a:rPr>
              <a:t>employment_length</a:t>
            </a:r>
            <a:r>
              <a:rPr lang="en-US" sz="1400" b="0" u="none" strike="noStrike" dirty="0">
                <a:solidFill>
                  <a:srgbClr val="191919"/>
                </a:solidFill>
                <a:effectLst/>
                <a:uFillTx/>
                <a:latin typeface="Open Sans"/>
              </a:rPr>
              <a:t>, </a:t>
            </a:r>
            <a:r>
              <a:rPr lang="en-US" sz="1400" b="0" u="none" strike="noStrike" dirty="0" err="1">
                <a:solidFill>
                  <a:srgbClr val="191919"/>
                </a:solidFill>
                <a:effectLst/>
                <a:uFillTx/>
                <a:latin typeface="Open Sans"/>
              </a:rPr>
              <a:t>annual_income</a:t>
            </a:r>
            <a:r>
              <a:rPr lang="en-US" sz="1400" b="0" u="none" strike="noStrike" dirty="0">
                <a:solidFill>
                  <a:srgbClr val="191919"/>
                </a:solidFill>
                <a:effectLst/>
                <a:uFillTx/>
                <a:latin typeface="Open Sans"/>
              </a:rPr>
              <a:t>, </a:t>
            </a:r>
            <a:r>
              <a:rPr lang="en-US" sz="1400" b="0" u="none" strike="noStrike" dirty="0" err="1">
                <a:solidFill>
                  <a:srgbClr val="191919"/>
                </a:solidFill>
                <a:effectLst/>
                <a:uFillTx/>
                <a:latin typeface="Open Sans"/>
              </a:rPr>
              <a:t>debt_to_income_ratio</a:t>
            </a:r>
            <a:r>
              <a:rPr lang="en-US" sz="1400" b="0" u="none" strike="noStrike" dirty="0">
                <a:solidFill>
                  <a:srgbClr val="191919"/>
                </a:solidFill>
                <a:effectLst/>
                <a:uFillTx/>
                <a:latin typeface="Open Sans"/>
              </a:rPr>
              <a:t>, purpose, </a:t>
            </a:r>
            <a:r>
              <a:rPr lang="en-US" sz="1400" b="0" u="none" strike="noStrike" dirty="0" err="1">
                <a:solidFill>
                  <a:srgbClr val="191919"/>
                </a:solidFill>
                <a:effectLst/>
                <a:uFillTx/>
                <a:latin typeface="Open Sans"/>
              </a:rPr>
              <a:t>zipcode</a:t>
            </a:r>
            <a:r>
              <a:rPr lang="en-US" sz="1400" b="0" u="none" strike="noStrike" dirty="0">
                <a:solidFill>
                  <a:srgbClr val="191919"/>
                </a:solidFill>
                <a:effectLst/>
                <a:uFillTx/>
                <a:latin typeface="Open Sans"/>
              </a:rPr>
              <a:t>, and </a:t>
            </a:r>
            <a:r>
              <a:rPr lang="en-US" sz="1400" b="0" u="none" strike="noStrike" dirty="0" err="1">
                <a:solidFill>
                  <a:srgbClr val="191919"/>
                </a:solidFill>
                <a:effectLst/>
                <a:uFillTx/>
                <a:latin typeface="Open Sans"/>
              </a:rPr>
              <a:t>default_flag</a:t>
            </a:r>
            <a:r>
              <a:rPr lang="en-US" sz="1400" b="0" u="none" strike="noStrike" dirty="0">
                <a:solidFill>
                  <a:srgbClr val="191919"/>
                </a:solidFill>
                <a:effectLst/>
                <a:uFillTx/>
                <a:latin typeface="Open Sans"/>
              </a:rPr>
              <a:t>. Common issues: 7% missing </a:t>
            </a:r>
            <a:r>
              <a:rPr lang="en-US" sz="1400" b="0" u="none" strike="noStrike" dirty="0" err="1">
                <a:solidFill>
                  <a:srgbClr val="191919"/>
                </a:solidFill>
                <a:effectLst/>
                <a:uFillTx/>
                <a:latin typeface="Open Sans"/>
              </a:rPr>
              <a:t>employment_length</a:t>
            </a:r>
            <a:r>
              <a:rPr lang="en-US" sz="1400" b="0" u="none" strike="noStrike" dirty="0">
                <a:solidFill>
                  <a:srgbClr val="191919"/>
                </a:solidFill>
                <a:effectLst/>
                <a:uFillTx/>
                <a:latin typeface="Open Sans"/>
              </a:rPr>
              <a:t>, 15% missing </a:t>
            </a:r>
            <a:r>
              <a:rPr lang="en-US" sz="1400" b="0" u="none" strike="noStrike" dirty="0" err="1">
                <a:solidFill>
                  <a:srgbClr val="191919"/>
                </a:solidFill>
                <a:effectLst/>
                <a:uFillTx/>
                <a:latin typeface="Open Sans"/>
              </a:rPr>
              <a:t>debt_to_income_ratio</a:t>
            </a:r>
            <a:r>
              <a:rPr lang="en-US" sz="1400" b="0" u="none" strike="noStrike" dirty="0">
                <a:solidFill>
                  <a:srgbClr val="191919"/>
                </a:solidFill>
                <a:effectLst/>
                <a:uFillTx/>
                <a:latin typeface="Open Sans"/>
              </a:rPr>
              <a:t>, and many long-tail categories like 100+ ZIP codes. Label distribution is</a:t>
            </a:r>
            <a:endParaRPr lang="en-US" sz="1400" b="0" u="none" strike="noStrike" dirty="0">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Rounded Corners 36"/>
          <p:cNvSpPr/>
          <p:nvPr/>
        </p:nvSpPr>
        <p:spPr>
          <a:xfrm>
            <a:off x="200016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8" name="Rectangle: Rounded Corners 37"/>
          <p:cNvSpPr/>
          <p:nvPr/>
        </p:nvSpPr>
        <p:spPr>
          <a:xfrm>
            <a:off x="363852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9" name="Rectangle: Rounded Corners 38"/>
          <p:cNvSpPr/>
          <p:nvPr/>
        </p:nvSpPr>
        <p:spPr>
          <a:xfrm>
            <a:off x="527688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0" name="Rectangle: Rounded Corners 39"/>
          <p:cNvSpPr/>
          <p:nvPr/>
        </p:nvSpPr>
        <p:spPr>
          <a:xfrm>
            <a:off x="691524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1" name="Rectangle: Rounded Corners 40"/>
          <p:cNvSpPr/>
          <p:nvPr/>
        </p:nvSpPr>
        <p:spPr>
          <a:xfrm>
            <a:off x="47628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2" name="Rectangle: Rounded Corners 41"/>
          <p:cNvSpPr/>
          <p:nvPr/>
        </p:nvSpPr>
        <p:spPr>
          <a:xfrm>
            <a:off x="123840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3" name="Rectangle: Rounded Corners 42"/>
          <p:cNvSpPr/>
          <p:nvPr/>
        </p:nvSpPr>
        <p:spPr>
          <a:xfrm>
            <a:off x="211464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4" name="Rectangle: Rounded Corners 43"/>
          <p:cNvSpPr/>
          <p:nvPr/>
        </p:nvSpPr>
        <p:spPr>
          <a:xfrm>
            <a:off x="287640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5" name="Rectangle: Rounded Corners 44"/>
          <p:cNvSpPr/>
          <p:nvPr/>
        </p:nvSpPr>
        <p:spPr>
          <a:xfrm>
            <a:off x="375300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6" name="Rectangle: Rounded Corners 45"/>
          <p:cNvSpPr/>
          <p:nvPr/>
        </p:nvSpPr>
        <p:spPr>
          <a:xfrm>
            <a:off x="451476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7" name="Rectangle: Rounded Corners 46"/>
          <p:cNvSpPr/>
          <p:nvPr/>
        </p:nvSpPr>
        <p:spPr>
          <a:xfrm>
            <a:off x="539100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8" name="Rectangle: Rounded Corners 47"/>
          <p:cNvSpPr/>
          <p:nvPr/>
        </p:nvSpPr>
        <p:spPr>
          <a:xfrm>
            <a:off x="615312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49" name="Rectangle: Rounded Corners 48"/>
          <p:cNvSpPr/>
          <p:nvPr/>
        </p:nvSpPr>
        <p:spPr>
          <a:xfrm>
            <a:off x="702936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0" name="Rectangle: Rounded Corners 49"/>
          <p:cNvSpPr/>
          <p:nvPr/>
        </p:nvSpPr>
        <p:spPr>
          <a:xfrm>
            <a:off x="779148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51" name="Rectangle 50"/>
          <p:cNvSpPr/>
          <p:nvPr/>
        </p:nvSpPr>
        <p:spPr>
          <a:xfrm>
            <a:off x="476280" y="2844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1" u="none" strike="noStrike">
                <a:solidFill>
                  <a:srgbClr val="191919"/>
                </a:solidFill>
                <a:effectLst/>
                <a:uFillTx/>
                <a:latin typeface="Space Grotesk"/>
              </a:rPr>
              <a:t>Preprocess Pipeline</a:t>
            </a:r>
            <a:endParaRPr lang="en-US" sz="2600" b="0" u="none" strike="noStrike">
              <a:solidFill>
                <a:srgbClr val="000000"/>
              </a:solidFill>
              <a:effectLst/>
              <a:uFillTx/>
              <a:latin typeface="OpenSymbol"/>
            </a:endParaRPr>
          </a:p>
        </p:txBody>
      </p:sp>
      <p:sp>
        <p:nvSpPr>
          <p:cNvPr id="52" name="Rectangle 51"/>
          <p:cNvSpPr/>
          <p:nvPr/>
        </p:nvSpPr>
        <p:spPr>
          <a:xfrm>
            <a:off x="47628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Data Split</a:t>
            </a:r>
            <a:endParaRPr lang="en-US" sz="1400" b="0" u="none" strike="noStrike">
              <a:solidFill>
                <a:srgbClr val="000000"/>
              </a:solidFill>
              <a:effectLst/>
              <a:uFillTx/>
              <a:latin typeface="OpenSymbol"/>
            </a:endParaRPr>
          </a:p>
        </p:txBody>
      </p:sp>
      <p:sp>
        <p:nvSpPr>
          <p:cNvPr id="53" name="Rectangle 52"/>
          <p:cNvSpPr/>
          <p:nvPr/>
        </p:nvSpPr>
        <p:spPr>
          <a:xfrm>
            <a:off x="476280" y="2619360"/>
            <a:ext cx="152352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Preserve temporal order: train on older loans, validate/test on newer cohorts to avoid leakage.</a:t>
            </a:r>
            <a:endParaRPr lang="en-US" sz="1200" b="0" u="none" strike="noStrike">
              <a:solidFill>
                <a:srgbClr val="000000"/>
              </a:solidFill>
              <a:effectLst/>
              <a:uFillTx/>
              <a:latin typeface="OpenSymbol"/>
            </a:endParaRPr>
          </a:p>
        </p:txBody>
      </p:sp>
      <p:sp>
        <p:nvSpPr>
          <p:cNvPr id="54" name="Rectangle 53"/>
          <p:cNvSpPr/>
          <p:nvPr/>
        </p:nvSpPr>
        <p:spPr>
          <a:xfrm>
            <a:off x="211464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Imputation</a:t>
            </a:r>
            <a:endParaRPr lang="en-US" sz="1400" b="0" u="none" strike="noStrike">
              <a:solidFill>
                <a:srgbClr val="000000"/>
              </a:solidFill>
              <a:effectLst/>
              <a:uFillTx/>
              <a:latin typeface="OpenSymbol"/>
            </a:endParaRPr>
          </a:p>
        </p:txBody>
      </p:sp>
      <p:sp>
        <p:nvSpPr>
          <p:cNvPr id="55" name="Rectangle 54"/>
          <p:cNvSpPr/>
          <p:nvPr/>
        </p:nvSpPr>
        <p:spPr>
          <a:xfrm>
            <a:off x="2114640" y="2619360"/>
            <a:ext cx="152352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Numeric impute with median; categorical impute with 'missing' token.</a:t>
            </a:r>
            <a:endParaRPr lang="en-US" sz="1200" b="0" u="none" strike="noStrike">
              <a:solidFill>
                <a:srgbClr val="000000"/>
              </a:solidFill>
              <a:effectLst/>
              <a:uFillTx/>
              <a:latin typeface="OpenSymbol"/>
            </a:endParaRPr>
          </a:p>
        </p:txBody>
      </p:sp>
      <p:sp>
        <p:nvSpPr>
          <p:cNvPr id="56" name="Rectangle 55"/>
          <p:cNvSpPr/>
          <p:nvPr/>
        </p:nvSpPr>
        <p:spPr>
          <a:xfrm>
            <a:off x="375300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Encoding</a:t>
            </a:r>
            <a:endParaRPr lang="en-US" sz="1400" b="0" u="none" strike="noStrike">
              <a:solidFill>
                <a:srgbClr val="000000"/>
              </a:solidFill>
              <a:effectLst/>
              <a:uFillTx/>
              <a:latin typeface="OpenSymbol"/>
            </a:endParaRPr>
          </a:p>
        </p:txBody>
      </p:sp>
      <p:sp>
        <p:nvSpPr>
          <p:cNvPr id="57" name="Rectangle 56"/>
          <p:cNvSpPr/>
          <p:nvPr/>
        </p:nvSpPr>
        <p:spPr>
          <a:xfrm>
            <a:off x="3753000" y="2619360"/>
            <a:ext cx="1523520" cy="19807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Ordinal for employment_length; target or frequency encoding for high-cardinality features like zipcode; one-hot for low-cardinality categoricals.</a:t>
            </a:r>
            <a:endParaRPr lang="en-US" sz="1200" b="0" u="none" strike="noStrike">
              <a:solidFill>
                <a:srgbClr val="000000"/>
              </a:solidFill>
              <a:effectLst/>
              <a:uFillTx/>
              <a:latin typeface="OpenSymbol"/>
            </a:endParaRPr>
          </a:p>
        </p:txBody>
      </p:sp>
      <p:sp>
        <p:nvSpPr>
          <p:cNvPr id="58" name="Rectangle 57"/>
          <p:cNvSpPr/>
          <p:nvPr/>
        </p:nvSpPr>
        <p:spPr>
          <a:xfrm>
            <a:off x="5391000" y="121932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Feature Creation</a:t>
            </a:r>
            <a:endParaRPr lang="en-US" sz="1400" b="0" u="none" strike="noStrike">
              <a:solidFill>
                <a:srgbClr val="000000"/>
              </a:solidFill>
              <a:effectLst/>
              <a:uFillTx/>
              <a:latin typeface="OpenSymbol"/>
            </a:endParaRPr>
          </a:p>
        </p:txBody>
      </p:sp>
      <p:sp>
        <p:nvSpPr>
          <p:cNvPr id="59" name="Rectangle 58"/>
          <p:cNvSpPr/>
          <p:nvPr/>
        </p:nvSpPr>
        <p:spPr>
          <a:xfrm>
            <a:off x="5391000" y="2619360"/>
            <a:ext cx="1523520" cy="23428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Debt_to_income buckets, credit_utilization ratio, age_of_credit_history (years), number of prior delinquencies, and interaction features (e.g., high_loan_amount × low_income).</a:t>
            </a:r>
            <a:endParaRPr lang="en-US" sz="1200" b="0" u="none" strike="noStrike">
              <a:solidFill>
                <a:srgbClr val="000000"/>
              </a:solidFill>
              <a:effectLst/>
              <a:uFillTx/>
              <a:latin typeface="OpenSymbol"/>
            </a:endParaRPr>
          </a:p>
        </p:txBody>
      </p:sp>
      <p:sp>
        <p:nvSpPr>
          <p:cNvPr id="60" name="Rectangle 59"/>
          <p:cNvSpPr/>
          <p:nvPr/>
        </p:nvSpPr>
        <p:spPr>
          <a:xfrm>
            <a:off x="702936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Resampling</a:t>
            </a:r>
            <a:endParaRPr lang="en-US" sz="1400" b="0" u="none" strike="noStrike">
              <a:solidFill>
                <a:srgbClr val="000000"/>
              </a:solidFill>
              <a:effectLst/>
              <a:uFillTx/>
              <a:latin typeface="OpenSymbol"/>
            </a:endParaRPr>
          </a:p>
        </p:txBody>
      </p:sp>
      <p:sp>
        <p:nvSpPr>
          <p:cNvPr id="61" name="Rectangle 60"/>
          <p:cNvSpPr/>
          <p:nvPr/>
        </p:nvSpPr>
        <p:spPr>
          <a:xfrm>
            <a:off x="7029360" y="2619360"/>
            <a:ext cx="1523520" cy="19807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Prefer class weighting or probability calibration over aggressive oversampling; if used, apply resampling only within training folds.</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191919"/>
                </a:solidFill>
                <a:effectLst/>
                <a:uFillTx/>
                <a:latin typeface="Space Grotesk"/>
              </a:rPr>
              <a:t>RF Robust, GBM</a:t>
            </a:r>
            <a:endParaRPr lang="en-US" sz="2400" b="0" u="none" strike="noStrike">
              <a:solidFill>
                <a:srgbClr val="000000"/>
              </a:solidFill>
              <a:effectLst/>
              <a:uFillTx/>
              <a:latin typeface="OpenSymbol"/>
            </a:endParaRPr>
          </a:p>
        </p:txBody>
      </p:sp>
      <p:sp>
        <p:nvSpPr>
          <p:cNvPr id="63" name="Rectangle 62"/>
          <p:cNvSpPr/>
          <p:nvPr/>
        </p:nvSpPr>
        <p:spPr>
          <a:xfrm>
            <a:off x="476280" y="1333440"/>
            <a:ext cx="3904920" cy="1247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Open Sans"/>
              </a:rPr>
              <a:t>Builds many trees in parallel for fast baseline performance. Requires minimal tuning and no feature scaling, but may need encoding for categorical features. In practice, yields solid AUC quickly (e.g., benchmark lending: RF AUC ≈ 0.78 after baseline preprocessing).</a:t>
            </a:r>
            <a:endParaRPr lang="en-US" sz="1200" b="0" u="none" strike="noStrike">
              <a:solidFill>
                <a:srgbClr val="000000"/>
              </a:solidFill>
              <a:effectLst/>
              <a:uFillTx/>
              <a:latin typeface="OpenSymbol"/>
            </a:endParaRPr>
          </a:p>
        </p:txBody>
      </p:sp>
      <p:sp>
        <p:nvSpPr>
          <p:cNvPr id="64" name="Rectangle 63"/>
          <p:cNvSpPr/>
          <p:nvPr/>
        </p:nvSpPr>
        <p:spPr>
          <a:xfrm>
            <a:off x="4762440" y="1333440"/>
            <a:ext cx="3904920" cy="1247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Open Sans"/>
              </a:rPr>
              <a:t>Builds trees sequentially to correct residuals, often pushing accuracy higher with proper regularization. Native handling of some categoricals (CatBoost/LightGBM) and robust SHAP-based explanations aid interpretability. Mature pipelines commonly see 1–5% AUC lift over RF after tuning.</a:t>
            </a:r>
            <a:endParaRPr lang="en-US" sz="1200" b="0" u="none" strike="noStrike">
              <a:solidFill>
                <a:srgbClr val="000000"/>
              </a:solidFill>
              <a:effectLst/>
              <a:uFillTx/>
              <a:latin typeface="OpenSymbol"/>
            </a:endParaRPr>
          </a:p>
        </p:txBody>
      </p:sp>
      <p:sp>
        <p:nvSpPr>
          <p:cNvPr id="65" name="Rectangle 64"/>
          <p:cNvSpPr/>
          <p:nvPr/>
        </p:nvSpPr>
        <p:spPr>
          <a:xfrm>
            <a:off x="476280" y="4381560"/>
            <a:ext cx="8191080" cy="333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Open Sans"/>
              </a:rPr>
              <a:t>RF is the fast, robust baseline; GBM can achieve higher accuracy with careful tuning and regularization.</a:t>
            </a:r>
            <a:endParaRPr lang="en-US" sz="12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p:cNvSpPr/>
          <p:nvPr/>
        </p:nvSpPr>
        <p:spPr>
          <a:xfrm>
            <a:off x="609480" y="1181160"/>
            <a:ext cx="259056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7" name="Rectangle 66"/>
          <p:cNvSpPr/>
          <p:nvPr/>
        </p:nvSpPr>
        <p:spPr>
          <a:xfrm>
            <a:off x="3333600" y="1181160"/>
            <a:ext cx="259056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8" name="Rectangle 67"/>
          <p:cNvSpPr/>
          <p:nvPr/>
        </p:nvSpPr>
        <p:spPr>
          <a:xfrm>
            <a:off x="6058080" y="1181160"/>
            <a:ext cx="308592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69" name="Oval 68"/>
          <p:cNvSpPr/>
          <p:nvPr/>
        </p:nvSpPr>
        <p:spPr>
          <a:xfrm>
            <a:off x="476280" y="1114560"/>
            <a:ext cx="132840" cy="132840"/>
          </a:xfrm>
          <a:prstGeom prst="ellipse">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0" name="Oval 69"/>
          <p:cNvSpPr/>
          <p:nvPr/>
        </p:nvSpPr>
        <p:spPr>
          <a:xfrm>
            <a:off x="3200400" y="1114560"/>
            <a:ext cx="132840" cy="132840"/>
          </a:xfrm>
          <a:prstGeom prst="ellipse">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1" name="Oval 70"/>
          <p:cNvSpPr/>
          <p:nvPr/>
        </p:nvSpPr>
        <p:spPr>
          <a:xfrm>
            <a:off x="5924520" y="1114560"/>
            <a:ext cx="132840" cy="132840"/>
          </a:xfrm>
          <a:prstGeom prst="ellipse">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2" name="Rectangle 71"/>
          <p:cNvSpPr/>
          <p:nvPr/>
        </p:nvSpPr>
        <p:spPr>
          <a:xfrm>
            <a:off x="0" y="3181320"/>
            <a:ext cx="47592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3" name="Rectangle 72"/>
          <p:cNvSpPr/>
          <p:nvPr/>
        </p:nvSpPr>
        <p:spPr>
          <a:xfrm>
            <a:off x="609480" y="3181320"/>
            <a:ext cx="259056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4" name="Rectangle 73"/>
          <p:cNvSpPr/>
          <p:nvPr/>
        </p:nvSpPr>
        <p:spPr>
          <a:xfrm>
            <a:off x="3333600" y="3181320"/>
            <a:ext cx="2590560" cy="18720"/>
          </a:xfrm>
          <a:prstGeom prst="rect">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25920" rIns="90000" bIns="-259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5" name="Oval 74"/>
          <p:cNvSpPr/>
          <p:nvPr/>
        </p:nvSpPr>
        <p:spPr>
          <a:xfrm>
            <a:off x="476280" y="3114720"/>
            <a:ext cx="132840" cy="132840"/>
          </a:xfrm>
          <a:prstGeom prst="ellipse">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6" name="Oval 75"/>
          <p:cNvSpPr/>
          <p:nvPr/>
        </p:nvSpPr>
        <p:spPr>
          <a:xfrm>
            <a:off x="3200400" y="3114720"/>
            <a:ext cx="132840" cy="132840"/>
          </a:xfrm>
          <a:prstGeom prst="ellipse">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7" name="Oval 76"/>
          <p:cNvSpPr/>
          <p:nvPr/>
        </p:nvSpPr>
        <p:spPr>
          <a:xfrm>
            <a:off x="5924520" y="3114720"/>
            <a:ext cx="132840" cy="132840"/>
          </a:xfrm>
          <a:prstGeom prst="ellipse">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78" name="Rectangle 77"/>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1" u="none" strike="noStrike">
                <a:solidFill>
                  <a:srgbClr val="191919"/>
                </a:solidFill>
                <a:effectLst/>
                <a:uFillTx/>
                <a:latin typeface="Space Grotesk"/>
              </a:rPr>
              <a:t>Training Workflow</a:t>
            </a:r>
            <a:endParaRPr lang="en-US" sz="2600" b="0" u="none" strike="noStrike">
              <a:solidFill>
                <a:srgbClr val="000000"/>
              </a:solidFill>
              <a:effectLst/>
              <a:uFillTx/>
              <a:latin typeface="OpenSymbol"/>
            </a:endParaRPr>
          </a:p>
        </p:txBody>
      </p:sp>
      <p:sp>
        <p:nvSpPr>
          <p:cNvPr id="79" name="Rectangle 78"/>
          <p:cNvSpPr/>
          <p:nvPr/>
        </p:nvSpPr>
        <p:spPr>
          <a:xfrm>
            <a:off x="476280" y="129528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0" u="none" strike="noStrike">
                <a:solidFill>
                  <a:srgbClr val="191919"/>
                </a:solidFill>
                <a:effectLst/>
                <a:uFillTx/>
                <a:latin typeface="Space Grotesk"/>
              </a:rPr>
              <a:t>Split</a:t>
            </a:r>
            <a:endParaRPr lang="en-US" sz="1400" b="0" u="none" strike="noStrike">
              <a:solidFill>
                <a:srgbClr val="000000"/>
              </a:solidFill>
              <a:effectLst/>
              <a:uFillTx/>
              <a:latin typeface="OpenSymbol"/>
            </a:endParaRPr>
          </a:p>
        </p:txBody>
      </p:sp>
      <p:sp>
        <p:nvSpPr>
          <p:cNvPr id="80" name="Rectangle 79"/>
          <p:cNvSpPr/>
          <p:nvPr/>
        </p:nvSpPr>
        <p:spPr>
          <a:xfrm>
            <a:off x="476280" y="1962000"/>
            <a:ext cx="257148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Open Sans"/>
              </a:rPr>
              <a:t>Temporal holdout or rolling-origin CV across 2015–2020 data.</a:t>
            </a:r>
            <a:endParaRPr lang="en-US" sz="1200" b="0" u="none" strike="noStrike">
              <a:solidFill>
                <a:srgbClr val="000000"/>
              </a:solidFill>
              <a:effectLst/>
              <a:uFillTx/>
              <a:latin typeface="OpenSymbol"/>
            </a:endParaRPr>
          </a:p>
        </p:txBody>
      </p:sp>
      <p:sp>
        <p:nvSpPr>
          <p:cNvPr id="81" name="Rectangle 80"/>
          <p:cNvSpPr/>
          <p:nvPr/>
        </p:nvSpPr>
        <p:spPr>
          <a:xfrm>
            <a:off x="3200400" y="129528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0" u="none" strike="noStrike">
                <a:solidFill>
                  <a:srgbClr val="191919"/>
                </a:solidFill>
                <a:effectLst/>
                <a:uFillTx/>
                <a:latin typeface="Space Grotesk"/>
              </a:rPr>
              <a:t>Baseline Models</a:t>
            </a:r>
            <a:endParaRPr lang="en-US" sz="1400" b="0" u="none" strike="noStrike">
              <a:solidFill>
                <a:srgbClr val="000000"/>
              </a:solidFill>
              <a:effectLst/>
              <a:uFillTx/>
              <a:latin typeface="OpenSymbol"/>
            </a:endParaRPr>
          </a:p>
        </p:txBody>
      </p:sp>
      <p:sp>
        <p:nvSpPr>
          <p:cNvPr id="82" name="Rectangle 81"/>
          <p:cNvSpPr/>
          <p:nvPr/>
        </p:nvSpPr>
        <p:spPr>
          <a:xfrm>
            <a:off x="3200400" y="1962000"/>
            <a:ext cx="257148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Open Sans"/>
              </a:rPr>
              <a:t>Fit Logistic Regression and default Random Forest to set baselines.</a:t>
            </a:r>
            <a:endParaRPr lang="en-US" sz="1200" b="0" u="none" strike="noStrike">
              <a:solidFill>
                <a:srgbClr val="000000"/>
              </a:solidFill>
              <a:effectLst/>
              <a:uFillTx/>
              <a:latin typeface="OpenSymbol"/>
            </a:endParaRPr>
          </a:p>
        </p:txBody>
      </p:sp>
      <p:sp>
        <p:nvSpPr>
          <p:cNvPr id="83" name="Rectangle 82"/>
          <p:cNvSpPr/>
          <p:nvPr/>
        </p:nvSpPr>
        <p:spPr>
          <a:xfrm>
            <a:off x="5924520" y="129528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0" u="none" strike="noStrike">
                <a:solidFill>
                  <a:srgbClr val="191919"/>
                </a:solidFill>
                <a:effectLst/>
                <a:uFillTx/>
                <a:latin typeface="Space Grotesk"/>
              </a:rPr>
              <a:t>Hyperparam Search</a:t>
            </a:r>
            <a:endParaRPr lang="en-US" sz="1400" b="0" u="none" strike="noStrike">
              <a:solidFill>
                <a:srgbClr val="000000"/>
              </a:solidFill>
              <a:effectLst/>
              <a:uFillTx/>
              <a:latin typeface="OpenSymbol"/>
            </a:endParaRPr>
          </a:p>
        </p:txBody>
      </p:sp>
      <p:sp>
        <p:nvSpPr>
          <p:cNvPr id="84" name="Rectangle 83"/>
          <p:cNvSpPr/>
          <p:nvPr/>
        </p:nvSpPr>
        <p:spPr>
          <a:xfrm>
            <a:off x="5867765" y="1583627"/>
            <a:ext cx="2571480" cy="1618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dirty="0" err="1">
                <a:solidFill>
                  <a:srgbClr val="191919"/>
                </a:solidFill>
                <a:effectLst/>
                <a:uFillTx/>
                <a:latin typeface="Open Sans"/>
              </a:rPr>
              <a:t>RandomizedSearchCV</a:t>
            </a:r>
            <a:r>
              <a:rPr lang="en-US" sz="1200" b="0" u="none" strike="noStrike" dirty="0">
                <a:solidFill>
                  <a:srgbClr val="191919"/>
                </a:solidFill>
                <a:effectLst/>
                <a:uFillTx/>
                <a:latin typeface="Open Sans"/>
              </a:rPr>
              <a:t> or Bayesian over RF and GBM ranges: RF </a:t>
            </a:r>
            <a:r>
              <a:rPr lang="en-US" sz="1200" b="0" u="none" strike="noStrike" dirty="0" err="1">
                <a:solidFill>
                  <a:srgbClr val="191919"/>
                </a:solidFill>
                <a:effectLst/>
                <a:uFillTx/>
                <a:latin typeface="Open Sans"/>
              </a:rPr>
              <a:t>n_estimators</a:t>
            </a:r>
            <a:r>
              <a:rPr lang="en-US" sz="1200" b="0" u="none" strike="noStrike" dirty="0">
                <a:solidFill>
                  <a:srgbClr val="191919"/>
                </a:solidFill>
                <a:effectLst/>
                <a:uFillTx/>
                <a:latin typeface="Open Sans"/>
              </a:rPr>
              <a:t> 100–1000, </a:t>
            </a:r>
            <a:r>
              <a:rPr lang="en-US" sz="1200" b="0" u="none" strike="noStrike" dirty="0" err="1">
                <a:solidFill>
                  <a:srgbClr val="191919"/>
                </a:solidFill>
                <a:effectLst/>
                <a:uFillTx/>
                <a:latin typeface="Open Sans"/>
              </a:rPr>
              <a:t>max_depth</a:t>
            </a:r>
            <a:r>
              <a:rPr lang="en-US" sz="1200" b="0" u="none" strike="noStrike" dirty="0">
                <a:solidFill>
                  <a:srgbClr val="191919"/>
                </a:solidFill>
                <a:effectLst/>
                <a:uFillTx/>
                <a:latin typeface="Open Sans"/>
              </a:rPr>
              <a:t> None/5–20, </a:t>
            </a:r>
            <a:r>
              <a:rPr lang="en-US" sz="1200" b="0" u="none" strike="noStrike" dirty="0" err="1">
                <a:solidFill>
                  <a:srgbClr val="191919"/>
                </a:solidFill>
                <a:effectLst/>
                <a:uFillTx/>
                <a:latin typeface="Open Sans"/>
              </a:rPr>
              <a:t>class_weight</a:t>
            </a:r>
            <a:r>
              <a:rPr lang="en-US" sz="1200" b="0" u="none" strike="noStrike" dirty="0">
                <a:solidFill>
                  <a:srgbClr val="191919"/>
                </a:solidFill>
                <a:effectLst/>
                <a:uFillTx/>
                <a:latin typeface="Open Sans"/>
              </a:rPr>
              <a:t>; GBM </a:t>
            </a:r>
            <a:r>
              <a:rPr lang="en-US" sz="1200" b="0" u="none" strike="noStrike" dirty="0" err="1">
                <a:solidFill>
                  <a:srgbClr val="191919"/>
                </a:solidFill>
                <a:effectLst/>
                <a:uFillTx/>
                <a:latin typeface="Open Sans"/>
              </a:rPr>
              <a:t>learning_rate</a:t>
            </a:r>
            <a:r>
              <a:rPr lang="en-US" sz="1200" b="0" u="none" strike="noStrike" dirty="0">
                <a:solidFill>
                  <a:srgbClr val="191919"/>
                </a:solidFill>
                <a:effectLst/>
                <a:uFillTx/>
                <a:latin typeface="Open Sans"/>
              </a:rPr>
              <a:t> 0.01–0.2, </a:t>
            </a:r>
            <a:r>
              <a:rPr lang="en-US" sz="1200" b="0" u="none" strike="noStrike" dirty="0" err="1">
                <a:solidFill>
                  <a:srgbClr val="191919"/>
                </a:solidFill>
                <a:effectLst/>
                <a:uFillTx/>
                <a:latin typeface="Open Sans"/>
              </a:rPr>
              <a:t>n_estimators</a:t>
            </a:r>
            <a:r>
              <a:rPr lang="en-US" sz="1200" b="0" u="none" strike="noStrike" dirty="0">
                <a:solidFill>
                  <a:srgbClr val="191919"/>
                </a:solidFill>
                <a:effectLst/>
                <a:uFillTx/>
                <a:latin typeface="Open Sans"/>
              </a:rPr>
              <a:t> 100–2000, </a:t>
            </a:r>
            <a:r>
              <a:rPr lang="en-US" sz="1200" b="0" u="none" strike="noStrike" dirty="0" err="1">
                <a:solidFill>
                  <a:srgbClr val="191919"/>
                </a:solidFill>
                <a:effectLst/>
                <a:uFillTx/>
                <a:latin typeface="Open Sans"/>
              </a:rPr>
              <a:t>max_depth</a:t>
            </a:r>
            <a:r>
              <a:rPr lang="en-US" sz="1200" b="0" u="none" strike="noStrike" dirty="0">
                <a:solidFill>
                  <a:srgbClr val="191919"/>
                </a:solidFill>
                <a:effectLst/>
                <a:uFillTx/>
                <a:latin typeface="Open Sans"/>
              </a:rPr>
              <a:t> 3–10, subsample 0.6–1.0</a:t>
            </a:r>
            <a:endParaRPr lang="en-US" sz="1200" b="0" u="none" strike="noStrike" dirty="0">
              <a:solidFill>
                <a:srgbClr val="000000"/>
              </a:solidFill>
              <a:effectLst/>
              <a:uFillTx/>
              <a:latin typeface="OpenSymbol"/>
            </a:endParaRPr>
          </a:p>
        </p:txBody>
      </p:sp>
      <p:sp>
        <p:nvSpPr>
          <p:cNvPr id="85" name="Rectangle 84"/>
          <p:cNvSpPr/>
          <p:nvPr/>
        </p:nvSpPr>
        <p:spPr>
          <a:xfrm>
            <a:off x="476280" y="329580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0" u="none" strike="noStrike">
                <a:solidFill>
                  <a:srgbClr val="191919"/>
                </a:solidFill>
                <a:effectLst/>
                <a:uFillTx/>
                <a:latin typeface="Space Grotesk"/>
              </a:rPr>
              <a:t>Time-series CV</a:t>
            </a:r>
            <a:endParaRPr lang="en-US" sz="1400" b="0" u="none" strike="noStrike">
              <a:solidFill>
                <a:srgbClr val="000000"/>
              </a:solidFill>
              <a:effectLst/>
              <a:uFillTx/>
              <a:latin typeface="OpenSymbol"/>
            </a:endParaRPr>
          </a:p>
        </p:txBody>
      </p:sp>
      <p:sp>
        <p:nvSpPr>
          <p:cNvPr id="86" name="Rectangle 85"/>
          <p:cNvSpPr/>
          <p:nvPr/>
        </p:nvSpPr>
        <p:spPr>
          <a:xfrm>
            <a:off x="476280" y="3962520"/>
            <a:ext cx="257148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Open Sans"/>
              </a:rPr>
              <a:t>3–5 fold time-aware CV; score by AUC and average precision.</a:t>
            </a:r>
            <a:endParaRPr lang="en-US" sz="1200" b="0" u="none" strike="noStrike">
              <a:solidFill>
                <a:srgbClr val="000000"/>
              </a:solidFill>
              <a:effectLst/>
              <a:uFillTx/>
              <a:latin typeface="OpenSymbol"/>
            </a:endParaRPr>
          </a:p>
        </p:txBody>
      </p:sp>
      <p:sp>
        <p:nvSpPr>
          <p:cNvPr id="87" name="Rectangle 86"/>
          <p:cNvSpPr/>
          <p:nvPr/>
        </p:nvSpPr>
        <p:spPr>
          <a:xfrm>
            <a:off x="3200400" y="329580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0" u="none" strike="noStrike">
                <a:solidFill>
                  <a:srgbClr val="191919"/>
                </a:solidFill>
                <a:effectLst/>
                <a:uFillTx/>
                <a:latin typeface="Space Grotesk"/>
              </a:rPr>
              <a:t>Calibration</a:t>
            </a:r>
            <a:endParaRPr lang="en-US" sz="1400" b="0" u="none" strike="noStrike">
              <a:solidFill>
                <a:srgbClr val="000000"/>
              </a:solidFill>
              <a:effectLst/>
              <a:uFillTx/>
              <a:latin typeface="OpenSymbol"/>
            </a:endParaRPr>
          </a:p>
        </p:txBody>
      </p:sp>
      <p:sp>
        <p:nvSpPr>
          <p:cNvPr id="88" name="Rectangle 87"/>
          <p:cNvSpPr/>
          <p:nvPr/>
        </p:nvSpPr>
        <p:spPr>
          <a:xfrm>
            <a:off x="3200400" y="3962520"/>
            <a:ext cx="257148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Open Sans"/>
              </a:rPr>
              <a:t>Calibrate probabilities with isotonic or Platt scaling on validation set.</a:t>
            </a:r>
            <a:endParaRPr lang="en-US" sz="1200" b="0" u="none" strike="noStrike">
              <a:solidFill>
                <a:srgbClr val="000000"/>
              </a:solidFill>
              <a:effectLst/>
              <a:uFillTx/>
              <a:latin typeface="OpenSymbol"/>
            </a:endParaRPr>
          </a:p>
        </p:txBody>
      </p:sp>
      <p:sp>
        <p:nvSpPr>
          <p:cNvPr id="89" name="Rectangle 88"/>
          <p:cNvSpPr/>
          <p:nvPr/>
        </p:nvSpPr>
        <p:spPr>
          <a:xfrm>
            <a:off x="5924520" y="3295800"/>
            <a:ext cx="25714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400" b="0" u="none" strike="noStrike">
                <a:solidFill>
                  <a:srgbClr val="191919"/>
                </a:solidFill>
                <a:effectLst/>
                <a:uFillTx/>
                <a:latin typeface="Space Grotesk"/>
              </a:rPr>
              <a:t>Reproducible Artifacts</a:t>
            </a:r>
            <a:endParaRPr lang="en-US" sz="1400" b="0" u="none" strike="noStrike">
              <a:solidFill>
                <a:srgbClr val="000000"/>
              </a:solidFill>
              <a:effectLst/>
              <a:uFillTx/>
              <a:latin typeface="OpenSymbol"/>
            </a:endParaRPr>
          </a:p>
        </p:txBody>
      </p:sp>
      <p:sp>
        <p:nvSpPr>
          <p:cNvPr id="90" name="Rectangle 89"/>
          <p:cNvSpPr/>
          <p:nvPr/>
        </p:nvSpPr>
        <p:spPr>
          <a:xfrm>
            <a:off x="5924520" y="3962520"/>
            <a:ext cx="257148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91919"/>
                </a:solidFill>
                <a:effectLst/>
                <a:uFillTx/>
                <a:latin typeface="Open Sans"/>
              </a:rPr>
              <a:t>Save best pipelines with feature list, encoders, random seed, and model binary.</a:t>
            </a:r>
            <a:endParaRPr lang="en-US" sz="12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0"/>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191919"/>
                </a:solidFill>
                <a:effectLst/>
                <a:uFillTx/>
                <a:latin typeface="Space Grotesk"/>
              </a:rPr>
              <a:t>Our Results on the Test Set</a:t>
            </a:r>
            <a:endParaRPr lang="en-US" sz="2400" b="0" u="none" strike="noStrike">
              <a:solidFill>
                <a:srgbClr val="000000"/>
              </a:solidFill>
              <a:effectLst/>
              <a:uFillTx/>
              <a:latin typeface="OpenSymbol"/>
            </a:endParaRPr>
          </a:p>
        </p:txBody>
      </p:sp>
      <p:sp>
        <p:nvSpPr>
          <p:cNvPr id="92" name="Rectangle 91"/>
          <p:cNvSpPr/>
          <p:nvPr/>
        </p:nvSpPr>
        <p:spPr>
          <a:xfrm>
            <a:off x="476280" y="142884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191919"/>
                </a:solidFill>
                <a:effectLst/>
                <a:uFillTx/>
                <a:latin typeface="Space Grotesk"/>
              </a:rPr>
              <a:t>89.5%</a:t>
            </a:r>
            <a:endParaRPr lang="en-US" sz="3600" b="0" u="none" strike="noStrike">
              <a:solidFill>
                <a:srgbClr val="000000"/>
              </a:solidFill>
              <a:effectLst/>
              <a:uFillTx/>
              <a:latin typeface="OpenSymbol"/>
            </a:endParaRPr>
          </a:p>
        </p:txBody>
      </p:sp>
      <p:sp>
        <p:nvSpPr>
          <p:cNvPr id="93" name="Rectangle 92"/>
          <p:cNvSpPr/>
          <p:nvPr/>
        </p:nvSpPr>
        <p:spPr>
          <a:xfrm>
            <a:off x="3809880" y="1428840"/>
            <a:ext cx="48574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191919"/>
                </a:solidFill>
                <a:effectLst/>
                <a:uFillTx/>
                <a:latin typeface="Open Sans"/>
              </a:rPr>
              <a:t>Accuracy — Gradient Boosting (RF: 89.3%). Both models classify most loans correctly.</a:t>
            </a:r>
            <a:endParaRPr lang="en-US" sz="1400" b="0" u="none" strike="noStrike">
              <a:solidFill>
                <a:srgbClr val="000000"/>
              </a:solidFill>
              <a:effectLst/>
              <a:uFillTx/>
              <a:latin typeface="OpenSymbol"/>
            </a:endParaRPr>
          </a:p>
        </p:txBody>
      </p:sp>
      <p:sp>
        <p:nvSpPr>
          <p:cNvPr id="94" name="Rectangle 93"/>
          <p:cNvSpPr/>
          <p:nvPr/>
        </p:nvSpPr>
        <p:spPr>
          <a:xfrm>
            <a:off x="476280" y="207648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191919"/>
                </a:solidFill>
                <a:effectLst/>
                <a:uFillTx/>
                <a:latin typeface="Space Grotesk"/>
              </a:rPr>
              <a:t>94.5%</a:t>
            </a:r>
            <a:endParaRPr lang="en-US" sz="3600" b="0" u="none" strike="noStrike">
              <a:solidFill>
                <a:srgbClr val="000000"/>
              </a:solidFill>
              <a:effectLst/>
              <a:uFillTx/>
              <a:latin typeface="OpenSymbol"/>
            </a:endParaRPr>
          </a:p>
        </p:txBody>
      </p:sp>
      <p:sp>
        <p:nvSpPr>
          <p:cNvPr id="95" name="Rectangle 94"/>
          <p:cNvSpPr/>
          <p:nvPr/>
        </p:nvSpPr>
        <p:spPr>
          <a:xfrm>
            <a:off x="3809880" y="2076480"/>
            <a:ext cx="485748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191919"/>
                </a:solidFill>
                <a:effectLst/>
                <a:uFillTx/>
                <a:latin typeface="Open Sans"/>
              </a:rPr>
              <a:t>Precision — Gradient Boosting (RF: 94.3%). Very few false alarms among predicted defaults.</a:t>
            </a:r>
            <a:endParaRPr lang="en-US" sz="1400" b="0" u="none" strike="noStrike">
              <a:solidFill>
                <a:srgbClr val="000000"/>
              </a:solidFill>
              <a:effectLst/>
              <a:uFillTx/>
              <a:latin typeface="OpenSymbol"/>
            </a:endParaRPr>
          </a:p>
        </p:txBody>
      </p:sp>
      <p:sp>
        <p:nvSpPr>
          <p:cNvPr id="96" name="Rectangle 95"/>
          <p:cNvSpPr/>
          <p:nvPr/>
        </p:nvSpPr>
        <p:spPr>
          <a:xfrm>
            <a:off x="476280" y="272412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191919"/>
                </a:solidFill>
                <a:effectLst/>
                <a:uFillTx/>
                <a:latin typeface="Space Grotesk"/>
              </a:rPr>
              <a:t>61.0%</a:t>
            </a:r>
            <a:endParaRPr lang="en-US" sz="3600" b="0" u="none" strike="noStrike">
              <a:solidFill>
                <a:srgbClr val="000000"/>
              </a:solidFill>
              <a:effectLst/>
              <a:uFillTx/>
              <a:latin typeface="OpenSymbol"/>
            </a:endParaRPr>
          </a:p>
        </p:txBody>
      </p:sp>
      <p:sp>
        <p:nvSpPr>
          <p:cNvPr id="97" name="Rectangle 96"/>
          <p:cNvSpPr/>
          <p:nvPr/>
        </p:nvSpPr>
        <p:spPr>
          <a:xfrm>
            <a:off x="3809880" y="2724120"/>
            <a:ext cx="48574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191919"/>
                </a:solidFill>
                <a:effectLst/>
                <a:uFillTx/>
                <a:latin typeface="Open Sans"/>
              </a:rPr>
              <a:t>Recall — Gradient Boosting (RF: 60.4%). About 6 in 10 actual defaulters are caught.</a:t>
            </a:r>
            <a:endParaRPr lang="en-US" sz="1400" b="0" u="none" strike="noStrike">
              <a:solidFill>
                <a:srgbClr val="000000"/>
              </a:solidFill>
              <a:effectLst/>
              <a:uFillTx/>
              <a:latin typeface="OpenSymbol"/>
            </a:endParaRPr>
          </a:p>
        </p:txBody>
      </p:sp>
      <p:sp>
        <p:nvSpPr>
          <p:cNvPr id="98" name="Rectangle 97"/>
          <p:cNvSpPr/>
          <p:nvPr/>
        </p:nvSpPr>
        <p:spPr>
          <a:xfrm>
            <a:off x="476280" y="337176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191919"/>
                </a:solidFill>
                <a:effectLst/>
                <a:uFillTx/>
                <a:latin typeface="Space Grotesk"/>
              </a:rPr>
              <a:t>74.2%</a:t>
            </a:r>
            <a:endParaRPr lang="en-US" sz="3600" b="0" u="none" strike="noStrike">
              <a:solidFill>
                <a:srgbClr val="000000"/>
              </a:solidFill>
              <a:effectLst/>
              <a:uFillTx/>
              <a:latin typeface="OpenSymbol"/>
            </a:endParaRPr>
          </a:p>
        </p:txBody>
      </p:sp>
      <p:sp>
        <p:nvSpPr>
          <p:cNvPr id="99" name="Rectangle 98"/>
          <p:cNvSpPr/>
          <p:nvPr/>
        </p:nvSpPr>
        <p:spPr>
          <a:xfrm>
            <a:off x="3809880" y="3371760"/>
            <a:ext cx="485748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191919"/>
                </a:solidFill>
                <a:effectLst/>
                <a:uFillTx/>
                <a:latin typeface="Open Sans"/>
              </a:rPr>
              <a:t>F1-Score — Gradient Boosting (RF: 73.6%). Balanced precision/recall trade-off.</a:t>
            </a:r>
            <a:endParaRPr lang="en-US" sz="1400" b="0" u="none" strike="noStrike">
              <a:solidFill>
                <a:srgbClr val="000000"/>
              </a:solidFill>
              <a:effectLst/>
              <a:uFillTx/>
              <a:latin typeface="OpenSymbol"/>
            </a:endParaRPr>
          </a:p>
        </p:txBody>
      </p:sp>
      <p:sp>
        <p:nvSpPr>
          <p:cNvPr id="100" name="Rectangle 99"/>
          <p:cNvSpPr/>
          <p:nvPr/>
        </p:nvSpPr>
        <p:spPr>
          <a:xfrm>
            <a:off x="476280" y="401940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191919"/>
                </a:solidFill>
                <a:effectLst/>
                <a:uFillTx/>
                <a:latin typeface="Space Grotesk"/>
              </a:rPr>
              <a:t>0.892</a:t>
            </a:r>
            <a:endParaRPr lang="en-US" sz="3600" b="0" u="none" strike="noStrike">
              <a:solidFill>
                <a:srgbClr val="000000"/>
              </a:solidFill>
              <a:effectLst/>
              <a:uFillTx/>
              <a:latin typeface="OpenSymbol"/>
            </a:endParaRPr>
          </a:p>
        </p:txBody>
      </p:sp>
      <p:sp>
        <p:nvSpPr>
          <p:cNvPr id="101" name="Rectangle 100"/>
          <p:cNvSpPr/>
          <p:nvPr/>
        </p:nvSpPr>
        <p:spPr>
          <a:xfrm>
            <a:off x="3809880" y="4019400"/>
            <a:ext cx="48574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191919"/>
                </a:solidFill>
                <a:effectLst/>
                <a:uFillTx/>
                <a:latin typeface="Open Sans"/>
              </a:rPr>
              <a:t>ROC-AUC — Random Forest (GBM: 0.887). Both models discriminate well between classes.</a:t>
            </a:r>
            <a:endParaRPr lang="en-US" sz="1400" b="0" u="none" strike="noStrike">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8229600" cy="548640"/>
          </a:xfrm>
          <a:prstGeom prst="rect">
            <a:avLst/>
          </a:prstGeom>
          <a:noFill/>
        </p:spPr>
        <p:txBody>
          <a:bodyPr wrap="none">
            <a:spAutoFit/>
          </a:bodyPr>
          <a:lstStyle/>
          <a:p>
            <a:r>
              <a:rPr sz="2600" b="1">
                <a:solidFill>
                  <a:srgbClr val="191919"/>
                </a:solidFill>
                <a:latin typeface="Space Grotesk"/>
              </a:rPr>
              <a:t>RF vs Gradient Boosting — Our Results</a:t>
            </a:r>
          </a:p>
        </p:txBody>
      </p:sp>
      <p:pic>
        <p:nvPicPr>
          <p:cNvPr id="3" name="Picture 2" descr="roc_comparison.png"/>
          <p:cNvPicPr>
            <a:picLocks noChangeAspect="1"/>
          </p:cNvPicPr>
          <p:nvPr/>
        </p:nvPicPr>
        <p:blipFill>
          <a:blip r:embed="rId3"/>
          <a:stretch>
            <a:fillRect/>
          </a:stretch>
        </p:blipFill>
        <p:spPr>
          <a:xfrm>
            <a:off x="365760" y="1051560"/>
            <a:ext cx="4206240" cy="3605349"/>
          </a:xfrm>
          <a:prstGeom prst="rect">
            <a:avLst/>
          </a:prstGeom>
        </p:spPr>
      </p:pic>
      <p:pic>
        <p:nvPicPr>
          <p:cNvPr id="4" name="Picture 3" descr="metric_comparison.png"/>
          <p:cNvPicPr>
            <a:picLocks noChangeAspect="1"/>
          </p:cNvPicPr>
          <p:nvPr/>
        </p:nvPicPr>
        <p:blipFill>
          <a:blip r:embed="rId4"/>
          <a:stretch>
            <a:fillRect/>
          </a:stretch>
        </p:blipFill>
        <p:spPr>
          <a:xfrm>
            <a:off x="4709160" y="1051560"/>
            <a:ext cx="4206240" cy="2570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angle: Rounded Corners 101"/>
          <p:cNvSpPr/>
          <p:nvPr/>
        </p:nvSpPr>
        <p:spPr>
          <a:xfrm>
            <a:off x="200016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3" name="Rectangle: Rounded Corners 102"/>
          <p:cNvSpPr/>
          <p:nvPr/>
        </p:nvSpPr>
        <p:spPr>
          <a:xfrm>
            <a:off x="363852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4" name="Rectangle: Rounded Corners 103"/>
          <p:cNvSpPr/>
          <p:nvPr/>
        </p:nvSpPr>
        <p:spPr>
          <a:xfrm>
            <a:off x="527688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5" name="Rectangle: Rounded Corners 104"/>
          <p:cNvSpPr/>
          <p:nvPr/>
        </p:nvSpPr>
        <p:spPr>
          <a:xfrm>
            <a:off x="6915240" y="2104920"/>
            <a:ext cx="114120" cy="900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6" name="Rectangle: Rounded Corners 105"/>
          <p:cNvSpPr/>
          <p:nvPr/>
        </p:nvSpPr>
        <p:spPr>
          <a:xfrm>
            <a:off x="47628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7" name="Rectangle: Rounded Corners 106"/>
          <p:cNvSpPr/>
          <p:nvPr/>
        </p:nvSpPr>
        <p:spPr>
          <a:xfrm>
            <a:off x="123840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8" name="Rectangle: Rounded Corners 107"/>
          <p:cNvSpPr/>
          <p:nvPr/>
        </p:nvSpPr>
        <p:spPr>
          <a:xfrm>
            <a:off x="211464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09" name="Rectangle: Rounded Corners 108"/>
          <p:cNvSpPr/>
          <p:nvPr/>
        </p:nvSpPr>
        <p:spPr>
          <a:xfrm>
            <a:off x="287640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0" name="Rectangle: Rounded Corners 109"/>
          <p:cNvSpPr/>
          <p:nvPr/>
        </p:nvSpPr>
        <p:spPr>
          <a:xfrm>
            <a:off x="375300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1" name="Rectangle: Rounded Corners 110"/>
          <p:cNvSpPr/>
          <p:nvPr/>
        </p:nvSpPr>
        <p:spPr>
          <a:xfrm>
            <a:off x="451476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2" name="Rectangle: Rounded Corners 111"/>
          <p:cNvSpPr/>
          <p:nvPr/>
        </p:nvSpPr>
        <p:spPr>
          <a:xfrm>
            <a:off x="539100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3" name="Rectangle: Rounded Corners 112"/>
          <p:cNvSpPr/>
          <p:nvPr/>
        </p:nvSpPr>
        <p:spPr>
          <a:xfrm>
            <a:off x="615312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4" name="Rectangle: Rounded Corners 113"/>
          <p:cNvSpPr/>
          <p:nvPr/>
        </p:nvSpPr>
        <p:spPr>
          <a:xfrm>
            <a:off x="7029360" y="2000160"/>
            <a:ext cx="1523520" cy="20916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5" name="Rectangle: Rounded Corners 114"/>
          <p:cNvSpPr/>
          <p:nvPr/>
        </p:nvSpPr>
        <p:spPr>
          <a:xfrm>
            <a:off x="7791480" y="2209680"/>
            <a:ext cx="9000" cy="323640"/>
          </a:xfrm>
          <a:prstGeom prst="roundRect">
            <a:avLst>
              <a:gd name="adj" fmla="val 16667"/>
            </a:avLst>
          </a:prstGeom>
          <a:solidFill>
            <a:srgbClr val="19191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116" name="Rectangle 115"/>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9999"/>
          </a:bodyPr>
          <a:lstStyle/>
          <a:p>
            <a:pPr defTabSz="914400">
              <a:lnSpc>
                <a:spcPct val="100000"/>
              </a:lnSpc>
              <a:tabLst>
                <a:tab pos="0" algn="l"/>
              </a:tabLst>
            </a:pPr>
            <a:r>
              <a:rPr lang="en-US" sz="2600" b="1" u="none" strike="noStrike">
                <a:solidFill>
                  <a:srgbClr val="191919"/>
                </a:solidFill>
                <a:effectLst/>
                <a:uFillTx/>
                <a:latin typeface="Space Grotesk"/>
              </a:rPr>
              <a:t>Versioned Pipeline</a:t>
            </a:r>
            <a:endParaRPr lang="en-US" sz="2600" b="0" u="none" strike="noStrike">
              <a:solidFill>
                <a:srgbClr val="000000"/>
              </a:solidFill>
              <a:effectLst/>
              <a:uFillTx/>
              <a:latin typeface="OpenSymbol"/>
            </a:endParaRPr>
          </a:p>
        </p:txBody>
      </p:sp>
      <p:sp>
        <p:nvSpPr>
          <p:cNvPr id="117" name="Rectangle 116"/>
          <p:cNvSpPr/>
          <p:nvPr/>
        </p:nvSpPr>
        <p:spPr>
          <a:xfrm>
            <a:off x="476280" y="121932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Package Pipeline</a:t>
            </a:r>
            <a:endParaRPr lang="en-US" sz="1400" b="0" u="none" strike="noStrike">
              <a:solidFill>
                <a:srgbClr val="000000"/>
              </a:solidFill>
              <a:effectLst/>
              <a:uFillTx/>
              <a:latin typeface="OpenSymbol"/>
            </a:endParaRPr>
          </a:p>
        </p:txBody>
      </p:sp>
      <p:sp>
        <p:nvSpPr>
          <p:cNvPr id="118" name="Rectangle 117"/>
          <p:cNvSpPr/>
          <p:nvPr/>
        </p:nvSpPr>
        <p:spPr>
          <a:xfrm>
            <a:off x="476280" y="2619360"/>
            <a:ext cx="152352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Pack preprocessing, encoders, model, and probability calibrator; version with Git and artifact store.</a:t>
            </a:r>
            <a:endParaRPr lang="en-US" sz="1200" b="0" u="none" strike="noStrike">
              <a:solidFill>
                <a:srgbClr val="000000"/>
              </a:solidFill>
              <a:effectLst/>
              <a:uFillTx/>
              <a:latin typeface="OpenSymbol"/>
            </a:endParaRPr>
          </a:p>
        </p:txBody>
      </p:sp>
      <p:sp>
        <p:nvSpPr>
          <p:cNvPr id="119" name="Rectangle 118"/>
          <p:cNvSpPr/>
          <p:nvPr/>
        </p:nvSpPr>
        <p:spPr>
          <a:xfrm>
            <a:off x="2114640" y="121932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Serve &amp; Validate</a:t>
            </a:r>
            <a:endParaRPr lang="en-US" sz="1400" b="0" u="none" strike="noStrike">
              <a:solidFill>
                <a:srgbClr val="000000"/>
              </a:solidFill>
              <a:effectLst/>
              <a:uFillTx/>
              <a:latin typeface="OpenSymbol"/>
            </a:endParaRPr>
          </a:p>
        </p:txBody>
      </p:sp>
      <p:sp>
        <p:nvSpPr>
          <p:cNvPr id="120" name="Rectangle 119"/>
          <p:cNvSpPr/>
          <p:nvPr/>
        </p:nvSpPr>
        <p:spPr>
          <a:xfrm>
            <a:off x="2114640" y="2619360"/>
            <a:ext cx="152352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Serve via REST API or batch scoring; include input validation and logging.</a:t>
            </a:r>
            <a:endParaRPr lang="en-US" sz="1200" b="0" u="none" strike="noStrike">
              <a:solidFill>
                <a:srgbClr val="000000"/>
              </a:solidFill>
              <a:effectLst/>
              <a:uFillTx/>
              <a:latin typeface="OpenSymbol"/>
            </a:endParaRPr>
          </a:p>
        </p:txBody>
      </p:sp>
      <p:sp>
        <p:nvSpPr>
          <p:cNvPr id="121" name="Rectangle 120"/>
          <p:cNvSpPr/>
          <p:nvPr/>
        </p:nvSpPr>
        <p:spPr>
          <a:xfrm>
            <a:off x="375300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Monitor Health</a:t>
            </a:r>
            <a:endParaRPr lang="en-US" sz="1400" b="0" u="none" strike="noStrike">
              <a:solidFill>
                <a:srgbClr val="000000"/>
              </a:solidFill>
              <a:effectLst/>
              <a:uFillTx/>
              <a:latin typeface="OpenSymbol"/>
            </a:endParaRPr>
          </a:p>
        </p:txBody>
      </p:sp>
      <p:sp>
        <p:nvSpPr>
          <p:cNvPr id="122" name="Rectangle 121"/>
          <p:cNvSpPr/>
          <p:nvPr/>
        </p:nvSpPr>
        <p:spPr>
          <a:xfrm>
            <a:off x="3753000" y="2619360"/>
            <a:ext cx="1523520" cy="19807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Track PSI per feature (alert PSI &gt; 0.2), label-rate drift, prediction distribution changes, and business KPIs (default rate among accepted, realized loss).</a:t>
            </a:r>
            <a:endParaRPr lang="en-US" sz="1200" b="0" u="none" strike="noStrike">
              <a:solidFill>
                <a:srgbClr val="000000"/>
              </a:solidFill>
              <a:effectLst/>
              <a:uFillTx/>
              <a:latin typeface="OpenSymbol"/>
            </a:endParaRPr>
          </a:p>
        </p:txBody>
      </p:sp>
      <p:sp>
        <p:nvSpPr>
          <p:cNvPr id="123" name="Rectangle 122"/>
          <p:cNvSpPr/>
          <p:nvPr/>
        </p:nvSpPr>
        <p:spPr>
          <a:xfrm>
            <a:off x="5391000" y="121932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Retrain Triggers</a:t>
            </a:r>
            <a:endParaRPr lang="en-US" sz="1400" b="0" u="none" strike="noStrike">
              <a:solidFill>
                <a:srgbClr val="000000"/>
              </a:solidFill>
              <a:effectLst/>
              <a:uFillTx/>
              <a:latin typeface="OpenSymbol"/>
            </a:endParaRPr>
          </a:p>
        </p:txBody>
      </p:sp>
      <p:sp>
        <p:nvSpPr>
          <p:cNvPr id="124" name="Rectangle 123"/>
          <p:cNvSpPr/>
          <p:nvPr/>
        </p:nvSpPr>
        <p:spPr>
          <a:xfrm>
            <a:off x="5391000" y="2619360"/>
            <a:ext cx="152352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Retrain when AUC on recent labeled sample drops &gt;0.03 or PSI &gt;0.2 for &gt;2 consecutive months.</a:t>
            </a:r>
            <a:endParaRPr lang="en-US" sz="1200" b="0" u="none" strike="noStrike">
              <a:solidFill>
                <a:srgbClr val="000000"/>
              </a:solidFill>
              <a:effectLst/>
              <a:uFillTx/>
              <a:latin typeface="OpenSymbol"/>
            </a:endParaRPr>
          </a:p>
        </p:txBody>
      </p:sp>
      <p:sp>
        <p:nvSpPr>
          <p:cNvPr id="125" name="Rectangle 124"/>
          <p:cNvSpPr/>
          <p:nvPr/>
        </p:nvSpPr>
        <p:spPr>
          <a:xfrm>
            <a:off x="7029360" y="121932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191919"/>
                </a:solidFill>
                <a:effectLst/>
                <a:uFillTx/>
                <a:latin typeface="Space Grotesk"/>
              </a:rPr>
              <a:t>Governance &amp; Provenance</a:t>
            </a:r>
            <a:endParaRPr lang="en-US" sz="1400" b="0" u="none" strike="noStrike">
              <a:solidFill>
                <a:srgbClr val="000000"/>
              </a:solidFill>
              <a:effectLst/>
              <a:uFillTx/>
              <a:latin typeface="OpenSymbol"/>
            </a:endParaRPr>
          </a:p>
        </p:txBody>
      </p:sp>
      <p:sp>
        <p:nvSpPr>
          <p:cNvPr id="126" name="Rectangle 125"/>
          <p:cNvSpPr/>
          <p:nvPr/>
        </p:nvSpPr>
        <p:spPr>
          <a:xfrm>
            <a:off x="7029360" y="2619360"/>
            <a:ext cx="1523520" cy="1800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91919"/>
                </a:solidFill>
                <a:effectLst/>
                <a:uFillTx/>
                <a:latin typeface="Open Sans"/>
              </a:rPr>
              <a:t>Document feature provenance, fairness checks (disparate impact), and an approval workflow for model updates.</a:t>
            </a:r>
            <a:endParaRPr lang="en-US" sz="12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Rectangle 126"/>
          <p:cNvSpPr/>
          <p:nvPr/>
        </p:nvSpPr>
        <p:spPr>
          <a:xfrm>
            <a:off x="1467000" y="533520"/>
            <a:ext cx="6219360" cy="5043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00000"/>
              </a:lnSpc>
              <a:tabLst>
                <a:tab pos="0" algn="l"/>
              </a:tabLst>
            </a:pPr>
            <a:r>
              <a:rPr lang="en-US" sz="4000" b="1" u="none" strike="noStrike">
                <a:solidFill>
                  <a:srgbClr val="191919"/>
                </a:solidFill>
                <a:effectLst/>
                <a:uFillTx/>
                <a:latin typeface="Space Grotesk"/>
              </a:rPr>
              <a:t>Key Takeaways</a:t>
            </a:r>
            <a:endParaRPr lang="en-US" sz="4000" b="0" u="none" strike="noStrike">
              <a:solidFill>
                <a:srgbClr val="000000"/>
              </a:solidFill>
              <a:effectLst/>
              <a:uFillTx/>
              <a:latin typeface="OpenSymbol"/>
            </a:endParaRPr>
          </a:p>
        </p:txBody>
      </p:sp>
      <p:sp>
        <p:nvSpPr>
          <p:cNvPr id="128" name="Rectangle 127"/>
          <p:cNvSpPr/>
          <p:nvPr/>
        </p:nvSpPr>
        <p:spPr>
          <a:xfrm>
            <a:off x="714240" y="2143080"/>
            <a:ext cx="7714800" cy="14857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pPr defTabSz="914400">
              <a:lnSpc>
                <a:spcPct val="150000"/>
              </a:lnSpc>
              <a:tabLst>
                <a:tab pos="0" algn="l"/>
              </a:tabLst>
            </a:pPr>
            <a:r>
              <a:rPr lang="en-US" sz="1400" b="0" u="none" strike="noStrike" dirty="0">
                <a:solidFill>
                  <a:srgbClr val="191919"/>
                </a:solidFill>
                <a:effectLst/>
                <a:uFillTx/>
                <a:latin typeface="Open Sans"/>
              </a:rPr>
              <a:t>You now understand the loan-default problem, the data structure, and how targeted preprocessing shapes model performance. You can train, tune, and compare Random Forest and Gradient Boosting with CV and AUC/PR metrics. And you can sketch a simple deployment and monitoring plan that tracks data drift, retraining triggers, and business KPIs.</a:t>
            </a:r>
            <a:endParaRPr lang="en-US" sz="1400" b="0" u="none" strike="noStrike" dirty="0">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C1790-E976-195E-5771-07FD209E9CE3}"/>
              </a:ext>
            </a:extLst>
          </p:cNvPr>
          <p:cNvSpPr>
            <a:spLocks noGrp="1"/>
          </p:cNvSpPr>
          <p:nvPr>
            <p:ph type="title"/>
          </p:nvPr>
        </p:nvSpPr>
        <p:spPr/>
        <p:txBody>
          <a:bodyPr/>
          <a:lstStyle/>
          <a:p>
            <a:r>
              <a:rPr lang="en-IN" dirty="0"/>
              <a:t>Thank You </a:t>
            </a:r>
          </a:p>
        </p:txBody>
      </p:sp>
      <p:sp>
        <p:nvSpPr>
          <p:cNvPr id="3" name="Text Placeholder 2">
            <a:extLst>
              <a:ext uri="{FF2B5EF4-FFF2-40B4-BE49-F238E27FC236}">
                <a16:creationId xmlns:a16="http://schemas.microsoft.com/office/drawing/2014/main" id="{4AC0FFA8-77CD-515D-7BFD-4F353198522E}"/>
              </a:ext>
            </a:extLst>
          </p:cNvPr>
          <p:cNvSpPr>
            <a:spLocks noGrp="1"/>
          </p:cNvSpPr>
          <p:nvPr>
            <p:ph type="body"/>
          </p:nvPr>
        </p:nvSpPr>
        <p:spPr/>
        <p:txBody>
          <a:bodyPr/>
          <a:lstStyle/>
          <a:p>
            <a:endParaRPr lang="en-IN"/>
          </a:p>
        </p:txBody>
      </p:sp>
    </p:spTree>
    <p:extLst>
      <p:ext uri="{BB962C8B-B14F-4D97-AF65-F5344CB8AC3E}">
        <p14:creationId xmlns:p14="http://schemas.microsoft.com/office/powerpoint/2010/main" val="1960188417"/>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8229600" cy="548640"/>
          </a:xfrm>
          <a:prstGeom prst="rect">
            <a:avLst/>
          </a:prstGeom>
          <a:noFill/>
        </p:spPr>
        <p:txBody>
          <a:bodyPr wrap="none">
            <a:spAutoFit/>
          </a:bodyPr>
          <a:lstStyle/>
          <a:p>
            <a:r>
              <a:rPr sz="2600" b="1">
                <a:solidFill>
                  <a:srgbClr val="191919"/>
                </a:solidFill>
                <a:latin typeface="Space Grotesk"/>
              </a:rPr>
              <a:t>Confusion Matrices &amp; Feature Importance</a:t>
            </a:r>
          </a:p>
        </p:txBody>
      </p:sp>
      <p:pic>
        <p:nvPicPr>
          <p:cNvPr id="3" name="Picture 2" descr="confusion_matrices.png"/>
          <p:cNvPicPr>
            <a:picLocks noChangeAspect="1"/>
          </p:cNvPicPr>
          <p:nvPr/>
        </p:nvPicPr>
        <p:blipFill>
          <a:blip r:embed="rId2"/>
          <a:stretch>
            <a:fillRect/>
          </a:stretch>
        </p:blipFill>
        <p:spPr>
          <a:xfrm>
            <a:off x="365760" y="1005840"/>
            <a:ext cx="5760720" cy="2618509"/>
          </a:xfrm>
          <a:prstGeom prst="rect">
            <a:avLst/>
          </a:prstGeom>
        </p:spPr>
      </p:pic>
      <p:pic>
        <p:nvPicPr>
          <p:cNvPr id="4" name="Picture 3" descr="rf_feature_importance.png"/>
          <p:cNvPicPr>
            <a:picLocks noChangeAspect="1"/>
          </p:cNvPicPr>
          <p:nvPr/>
        </p:nvPicPr>
        <p:blipFill>
          <a:blip r:embed="rId3"/>
          <a:stretch>
            <a:fillRect/>
          </a:stretch>
        </p:blipFill>
        <p:spPr>
          <a:xfrm>
            <a:off x="6263640" y="960120"/>
            <a:ext cx="2651760" cy="1988820"/>
          </a:xfrm>
          <a:prstGeom prst="rect">
            <a:avLst/>
          </a:prstGeom>
        </p:spPr>
      </p:pic>
    </p:spTree>
  </p:cSld>
  <p:clrMapOvr>
    <a:masterClrMapping/>
  </p:clrMapOvr>
</p:sld>
</file>

<file path=ppt/theme/theme1.xml><?xml version="1.0" encoding="utf-8"?>
<a:theme xmlns:a="http://schemas.openxmlformats.org/drawingml/2006/main" name="Sales Report by Slidesgo">
  <a:themeElements>
    <a:clrScheme name="Simple Light">
      <a:dk1>
        <a:srgbClr val="191919"/>
      </a:dk1>
      <a:lt1>
        <a:srgbClr val="FFFFFF"/>
      </a:lt1>
      <a:dk2>
        <a:srgbClr val="CEEEFF"/>
      </a:dk2>
      <a:lt2>
        <a:srgbClr val="80DCFC"/>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TotalTime>
  <Words>792</Words>
  <Application>Microsoft Office PowerPoint</Application>
  <PresentationFormat>On-screen Show (16:9)</PresentationFormat>
  <Paragraphs>62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Open Sans</vt:lpstr>
      <vt:lpstr>OpenSymbol</vt:lpstr>
      <vt:lpstr>Space Grotesk</vt:lpstr>
      <vt:lpstr>Symbol</vt:lpstr>
      <vt:lpstr>Wingdings</vt:lpstr>
      <vt:lpstr>Sales Report by Slidesgo</vt:lpstr>
      <vt:lpstr>Instructors :  Dr. Jyothsna Datti mam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Nishant M</cp:lastModifiedBy>
  <cp:revision>2</cp:revision>
  <dcterms:modified xsi:type="dcterms:W3CDTF">2026-08-31T13:58:34Z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2026-08-31T13:34:33Z</dcterms:created>
  <dc:creator>Slidesgo AI</dc:creator>
  <dc:description/>
  <dc:language>en-US</dc:language>
  <cp:lastModifiedBy>Unknown Creator</cp:lastModifiedBy>
  <dcterms:modified xsi:type="dcterms:W3CDTF">2026-08-31T13:34:33Z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10</vt:r8>
  </property>
  <property fmtid="{D5CDD505-2E9C-101B-9397-08002B2CF9AE}" pid="3" name="SlidesgoGeneratedBy">
    <vt:lpwstr>slidesgo-ai</vt:lpwstr>
  </property>
  <property fmtid="{D5CDD505-2E9C-101B-9397-08002B2CF9AE}" pid="4" name="SlidesgoPresentationUuid">
    <vt:lpwstr>a2a261dc-a9b3-40b8-aa5b-d17c6d0d0125</vt:lpwstr>
  </property>
</Properties>
</file>